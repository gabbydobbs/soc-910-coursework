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ink/ink2.xml" ContentType="application/inkml+xml"/>
  <Override PartName="/ppt/notesSlides/notesSlide13.xml" ContentType="application/vnd.openxmlformats-officedocument.presentationml.notesSlide+xml"/>
  <Override PartName="/ppt/ink/ink3.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89939"/>
  </p:normalViewPr>
  <p:slideViewPr>
    <p:cSldViewPr snapToGrid="0" snapToObjects="1">
      <p:cViewPr varScale="1">
        <p:scale>
          <a:sx n="135" d="100"/>
          <a:sy n="135"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07T23:06:34.734"/>
    </inkml:context>
    <inkml:brush xml:id="br0">
      <inkml:brushProperty name="width" value="0.2" units="cm"/>
      <inkml:brushProperty name="height" value="0.4" units="cm"/>
      <inkml:brushProperty name="color" value="#FFFC00"/>
      <inkml:brushProperty name="tip" value="rectangle"/>
      <inkml:brushProperty name="rasterOp" value="maskPen"/>
    </inkml:brush>
  </inkml:definitions>
  <inkml:trace contextRef="#ctx0" brushRef="#br0">3662 69,'-93'0,"0"0,0 0,0 0,0 0,0 0,-8 0,-3 0,4 0,9 0,13 0,-4 0,7 0,-3 0,-6 0,8 0,13 0,2 0,-38 0,6 0,18 0,-9 0,33 0,-2 0,-7 0,-2 0,-2 0,0 0,-1-1,1-1,5 0,0 0,3-1,0 1,2-2,0 1,3 1,1 0,-43-1,5 1,7 2,9 0,11 0,10-1,3-1,1-2,0 1,0-1,4-1,6 0,6 0,6 2,5 2,4-2,3 1,4 0,1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7T23:07:32.371"/>
    </inkml:context>
    <inkml:brush xml:id="br0">
      <inkml:brushProperty name="width" value="0.1" units="cm"/>
      <inkml:brushProperty name="height" value="0.1" units="cm"/>
      <inkml:brushProperty name="color" value="#E71224"/>
    </inkml:brush>
  </inkml:definitions>
  <inkml:trace contextRef="#ctx0" brushRef="#br0">4088 264 24575,'-50'-26'0,"-17"-7"0,-19-7 0,33 17 0,-3-1 0,-4 1 0,-1 2 0,-6 2 0,-3 3 0,-10 1 0,-3 5 0,-5 3 0,-2 3 0,24 3 0,-2 0 0,-2 1-231,-3 0 1,-1 0 0,-2 0 230,-3 0 0,-2-1 0,0 2 0,-4 0 0,0 1 0,0 3 0,-2 2 0,0 2 0,1 3 0,-2 3 0,0 4 0,0 3-366,0 5 1,1 3-1,1 2 366,1 4 0,1 3 0,1 1 0,4 2 0,2 2 0,2 1 0,5 0 0,3 2 0,3 1-75,7-2 1,2 1 0,4 0 74,-18 21 0,5 2 0,9-1 0,6 2 0,8-3 0,5 2 0,7 3 0,6 2 322,6 2 0,5 0-322,5-2 0,3 0 561,2-2 0,2-1-561,0-8 0,1-3 122,2-7 1,2-3-123,18 42 0,17-10 0,15-3 0,6-2 0,1-9 0,-6-10 0,-12-15 0,-11-16 0,-10-8 0,-7-8 0,-4-2 0,-3-1 0,0 0 0,0 0 0,0 1 0,0-1 0,-3-1 0,0-1 0,-3-2 0,-2 0 0,-1-3 0,-3-1 0,-9 0 0,-8-4 0,-8-4 0,-6-3 0,-4-3 0,-10 4 0,-16 3 0,-17 5 0,-10 1 0,2 0 0,13 0 0,20 0 0,18 0 0,16 0 0,13 0 0,9 0 0,12 0 0,14-4 0,24 0 0,21 0 0,20 1 0,-41 3 0,1 0 0,47 0 0,-5 0 0,-17 2 0,-15 3 0,-19 2 0,-15 1 0,-11-2 0,-6 0 0,-6-1 0,-2 0 0,-2-2 0,0-12 0,0-3 0,0-17 0,2-7 0,11-13 0,21-16 0,22-12 0,-21 37 0,1-1 0,0 4 0,0 1 0,20-21 0,-17 19 0,-17 19 0,-12 14 0,-5 7 0,-4 2 0,-3 1 0,1-2 0,-1-2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7T23:07:32.371"/>
    </inkml:context>
    <inkml:brush xml:id="br0">
      <inkml:brushProperty name="width" value="0.1" units="cm"/>
      <inkml:brushProperty name="height" value="0.1" units="cm"/>
      <inkml:brushProperty name="color" value="#E71224"/>
    </inkml:brush>
  </inkml:definitions>
  <inkml:trace contextRef="#ctx0" brushRef="#br0">4088 264 24575,'-50'-26'0,"-17"-7"0,-19-7 0,33 17 0,-3-1 0,-4 1 0,-1 2 0,-6 2 0,-3 3 0,-10 1 0,-3 5 0,-5 3 0,-2 3 0,24 3 0,-2 0 0,-2 1-231,-3 0 1,-1 0 0,-2 0 230,-3 0 0,-2-1 0,0 2 0,-4 0 0,0 1 0,0 3 0,-2 2 0,0 2 0,1 3 0,-2 3 0,0 4 0,0 3-366,0 5 1,1 3-1,1 2 366,1 4 0,1 3 0,1 1 0,4 2 0,2 2 0,2 1 0,5 0 0,3 2 0,3 1-75,7-2 1,2 1 0,4 0 74,-18 21 0,5 2 0,9-1 0,6 2 0,8-3 0,5 2 0,7 3 0,6 2 322,6 2 0,5 0-322,5-2 0,3 0 561,2-2 0,2-1-561,0-8 0,1-3 122,2-7 1,2-3-123,18 42 0,17-10 0,15-3 0,6-2 0,1-9 0,-6-10 0,-12-15 0,-11-16 0,-10-8 0,-7-8 0,-4-2 0,-3-1 0,0 0 0,0 0 0,0 1 0,0-1 0,-3-1 0,0-1 0,-3-2 0,-2 0 0,-1-3 0,-3-1 0,-9 0 0,-8-4 0,-8-4 0,-6-3 0,-4-3 0,-10 4 0,-16 3 0,-17 5 0,-10 1 0,2 0 0,13 0 0,20 0 0,18 0 0,16 0 0,13 0 0,9 0 0,12 0 0,14-4 0,24 0 0,21 0 0,20 1 0,-41 3 0,1 0 0,47 0 0,-5 0 0,-17 2 0,-15 3 0,-19 2 0,-15 1 0,-11-2 0,-6 0 0,-6-1 0,-2 0 0,-2-2 0,0-12 0,0-3 0,0-17 0,2-7 0,11-13 0,21-16 0,22-12 0,-21 37 0,1-1 0,0 4 0,0 1 0,20-21 0,-17 19 0,-17 19 0,-12 14 0,-5 7 0,-4 2 0,-3 1 0,1-2 0,-1-2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077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 qualitative study of how social scientists at one European university actually use generative AI in their research — and what tensions that creates. Thirteen interviews, read through activity theory. I'll spend most of the time on the findings and the tensions, and close with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The literature on AI in universities is huge but it's mostly about students, cheating and assessment. What researchers themselves do with these tools is barely studied — and least of all in the social sciences, and least of all outside the big AI countries. Hence a small qualitative study in one place.</a:t>
            </a:r>
          </a:p>
          <a:p>
            <a:endParaRPr lang="en-US" dirty="0"/>
          </a:p>
          <a:p>
            <a:r>
              <a:rPr lang="en-US" dirty="0"/>
              <a:t>Me: The formatting at the top is a little wonky, but overall this is a pretty good slide format wise &amp; it’s able to present’s the primary questions of the article.  It’s good at taking the main components of an article and summarizing them and presenting them in a visually pleasing and aesthetic way… the language is a little weird in some places, I would imagine that is for the sake of brevity, so there isn’t a lot of visual clutter on the slide, but if you’re just reading off the slide, your prose would sound unnatural.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Don't get lost in the diagram. Two things matter. One: AI enters as an instrument — a mediating artefact — not as an actor. Two: norms and division of labour are themselves abstract mediating artefacts in this version, which is why a new tool changes the rules around it. The dashed inputs and the feedback loops are Wilson's additions to </a:t>
            </a:r>
            <a:r>
              <a:rPr lang="en-US" dirty="0" err="1"/>
              <a:t>Engeström</a:t>
            </a:r>
            <a:r>
              <a:rPr lang="en-US" dirty="0"/>
              <a:t>.</a:t>
            </a:r>
          </a:p>
          <a:p>
            <a:endParaRPr lang="en-US" dirty="0"/>
          </a:p>
          <a:p>
            <a:r>
              <a:rPr lang="en-US" dirty="0"/>
              <a:t>Me: I am not sure why it decided to replicate the diagram instead of copying the figure exactly??? Here, Claud is prioritizing aesthetic consistency over meaningful theoretical substance from the article, which it tends to do a lot.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Flag for a methods audience: this sample is deliberately skewed toward the technically competent, and it snowballs out of the authors' own faculty. That's a defensible choice for an exploratory study — you want people who have something to say — but it means these are not typical social scientists, and it shapes everything that follows.</a:t>
            </a:r>
          </a:p>
          <a:p>
            <a:endParaRPr lang="en-US" dirty="0"/>
          </a:p>
          <a:p>
            <a:r>
              <a:rPr lang="en-US" dirty="0"/>
              <a:t>Me: Again, I think it’s super visually pleasing; it’s able to present the methods section succinctly and aesthetically for the purpose of the slide.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The tool list looks like heavy adoption and isn't — it's a long tail across thirteen people. Note translation and editing near the top: these are non-native English writers, and AI has replaced work they used to buy from translators and copy-editors.</a:t>
            </a:r>
          </a:p>
          <a:p>
            <a:endParaRPr lang="en-US" dirty="0"/>
          </a:p>
          <a:p>
            <a:r>
              <a:rPr lang="en-US" dirty="0"/>
              <a:t>ME: What is the purpose of the large visual quantifications? It just seems like useless counting to me!!!! ChatGPT was the most utilized—this is the qualitative information that matters, but everything here is quantified and shortened for visual purposes and it loses all substantive meaning.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Two poles of one relationship: a subordinate you delegate to, and an extension of yourself you cultivate. But almost nobody lets it near interpretation. The recurring reason is that you need the expertise to judge the output — which is the expertise you were hoping to save time 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Also in this section, briefly: collaborative use of AI inside a team was mentioned exactly once. People share what they find, then work alone — R12 calls it information dissemination rather than teamwork. And the labour AI displaced was not the researchers' own, it was the translators' and copy-editors'.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analytic core — the payoff for using activity theory rather than plain thematic analysis. If you remember one slide, make it this one. The first contradiction is about the tool; the second is about the community, and it's the one the authors think generalises to other countries in Lithuania's position.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Be explicit that the right-hand column is mine, not theirs. The strongest point is the first: recruiting 'social scientists' from computational linguistics, digital heritage and information security selects for exactly the people most likely to already use AI. The finding is real but the base rate is not the discipline’s. </a:t>
            </a:r>
          </a:p>
          <a:p>
            <a:endParaRPr lang="en-US" dirty="0"/>
          </a:p>
          <a:p>
            <a:r>
              <a:rPr lang="en-US" dirty="0"/>
              <a:t>ME: SHORT QUIPS “ECHOES ELSEWHERE” .. It makes the content so concise and visually /aesthetically appealing almost loses original meaning and context!!!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Close on the second point, and connect it to our own assignment: the protocol these respondents arrived at — use AI at the front, validate independently, never delegate the judgement — is exactly the protocol we've been working out in this course. They got there first, by using the tools on their own work.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Claude replicates figures and copies blocks of text from the article…the only substantive analysis it really adds are short quips that relate to the text or image taken from the article…</a:t>
            </a:r>
          </a:p>
        </p:txBody>
      </p:sp>
    </p:spTree>
    <p:extLst>
      <p:ext uri="{BB962C8B-B14F-4D97-AF65-F5344CB8AC3E}">
        <p14:creationId xmlns:p14="http://schemas.microsoft.com/office/powerpoint/2010/main" val="372629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Me: Claude is GENERALIZING and making HARD CLAIMS. This must have been a mistake, where “some ” was omitted because in the next sentence, it says “every respondent.” </a:t>
            </a:r>
          </a:p>
        </p:txBody>
      </p:sp>
    </p:spTree>
    <p:extLst>
      <p:ext uri="{BB962C8B-B14F-4D97-AF65-F5344CB8AC3E}">
        <p14:creationId xmlns:p14="http://schemas.microsoft.com/office/powerpoint/2010/main" val="38932438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Me: ITS WEIRD BECAUSE IN THE NOTES IT SAYS “Be explicit that the right-hand column is mine, not theirs. “ it’s attempting to check itself in the ppt comments!!!! It added its own notes to the </a:t>
            </a:r>
            <a:r>
              <a:rPr lang="en-US" dirty="0" err="1"/>
              <a:t>powerpoint</a:t>
            </a:r>
            <a:r>
              <a:rPr lang="en-US" dirty="0"/>
              <a:t> file!!!!</a:t>
            </a:r>
          </a:p>
        </p:txBody>
      </p:sp>
    </p:spTree>
    <p:extLst>
      <p:ext uri="{BB962C8B-B14F-4D97-AF65-F5344CB8AC3E}">
        <p14:creationId xmlns:p14="http://schemas.microsoft.com/office/powerpoint/2010/main" val="18397253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Me: It’s interesting that Claude emphasized “sociology” specifically—not just “social science research”— because I don’t remember ever explicitly telling it that I was a sociologist? It must have been able to figure that out some how… I completely missed this and now looking back on it, it’s kind of creepy</a:t>
            </a:r>
          </a:p>
        </p:txBody>
      </p:sp>
    </p:spTree>
    <p:extLst>
      <p:ext uri="{BB962C8B-B14F-4D97-AF65-F5344CB8AC3E}">
        <p14:creationId xmlns:p14="http://schemas.microsoft.com/office/powerpoint/2010/main" val="42437096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Me: I completely missed this because I wasn’t involved in the creative process of constructing the slides, and I accepted what it produced at face value for the purpose of this presentation)!!! The short quips make everything so catchy and cute that it’s almost hard to understand the original content if you don’t go back and check it with the original article!!! …for example, in slide 5 what is the purpose of the large visual quantifications other than to make the slide visually appealing? It just seems like useless counting to me!! the qualitative information that matters is shortened into some cute and short quip, but everything here is quantified and shortened for visual purposes, it loses all substantive meaning. </a:t>
            </a:r>
          </a:p>
        </p:txBody>
      </p:sp>
    </p:spTree>
    <p:extLst>
      <p:ext uri="{BB962C8B-B14F-4D97-AF65-F5344CB8AC3E}">
        <p14:creationId xmlns:p14="http://schemas.microsoft.com/office/powerpoint/2010/main" val="1873642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4.png"/><Relationship Id="rId4" Type="http://schemas.openxmlformats.org/officeDocument/2006/relationships/customXml" Target="../ink/ink1.xml"/></Relationships>
</file>

<file path=ppt/slides/_rels/slide13.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D2E46"/>
        </a:solidFill>
        <a:effectLst/>
      </p:bgPr>
    </p:bg>
    <p:spTree>
      <p:nvGrpSpPr>
        <p:cNvPr id="1" name=""/>
        <p:cNvGrpSpPr/>
        <p:nvPr/>
      </p:nvGrpSpPr>
      <p:grpSpPr>
        <a:xfrm>
          <a:off x="0" y="0"/>
          <a:ext cx="0" cy="0"/>
          <a:chOff x="0" y="0"/>
          <a:chExt cx="0" cy="0"/>
        </a:xfrm>
      </p:grpSpPr>
      <p:sp>
        <p:nvSpPr>
          <p:cNvPr id="2" name="Shape 0"/>
          <p:cNvSpPr/>
          <p:nvPr/>
        </p:nvSpPr>
        <p:spPr>
          <a:xfrm>
            <a:off x="6858000" y="-1463040"/>
            <a:ext cx="4023360" cy="4023360"/>
          </a:xfrm>
          <a:prstGeom prst="ellipse">
            <a:avLst/>
          </a:prstGeom>
          <a:solidFill>
            <a:srgbClr val="A26769">
              <a:alpha val="35000"/>
            </a:srgbClr>
          </a:solidFill>
          <a:ln w="12700">
            <a:solidFill>
              <a:srgbClr val="A26769"/>
            </a:solidFill>
            <a:prstDash val="solid"/>
          </a:ln>
        </p:spPr>
        <p:txBody>
          <a:bodyPr/>
          <a:lstStyle/>
          <a:p>
            <a:endParaRPr lang="en-US"/>
          </a:p>
        </p:txBody>
      </p:sp>
      <p:sp>
        <p:nvSpPr>
          <p:cNvPr id="3" name="Shape 1"/>
          <p:cNvSpPr/>
          <p:nvPr/>
        </p:nvSpPr>
        <p:spPr>
          <a:xfrm>
            <a:off x="7772400" y="3200400"/>
            <a:ext cx="2560320" cy="2560320"/>
          </a:xfrm>
          <a:prstGeom prst="ellipse">
            <a:avLst/>
          </a:prstGeom>
          <a:solidFill>
            <a:srgbClr val="ECE2D0">
              <a:alpha val="16000"/>
            </a:srgbClr>
          </a:solidFill>
          <a:ln w="12700">
            <a:solidFill>
              <a:srgbClr val="ECE2D0"/>
            </a:solidFill>
            <a:prstDash val="solid"/>
          </a:ln>
        </p:spPr>
        <p:txBody>
          <a:bodyPr/>
          <a:lstStyle/>
          <a:p>
            <a:endParaRPr lang="en-US"/>
          </a:p>
        </p:txBody>
      </p:sp>
      <p:sp>
        <p:nvSpPr>
          <p:cNvPr id="4" name="Text 2"/>
          <p:cNvSpPr txBox="1"/>
          <p:nvPr/>
        </p:nvSpPr>
        <p:spPr>
          <a:xfrm>
            <a:off x="502920" y="960120"/>
            <a:ext cx="6035040" cy="237744"/>
          </a:xfrm>
          <a:prstGeom prst="rect">
            <a:avLst/>
          </a:prstGeom>
          <a:noFill/>
          <a:ln/>
        </p:spPr>
        <p:txBody>
          <a:bodyPr wrap="square" lIns="0" tIns="0" rIns="0" bIns="0" rtlCol="0" anchor="ctr"/>
          <a:lstStyle/>
          <a:p>
            <a:pPr marL="0" indent="0">
              <a:buNone/>
            </a:pPr>
            <a:r>
              <a:rPr lang="en-US" sz="1000" b="1" kern="0" spc="180" dirty="0">
                <a:solidFill>
                  <a:srgbClr val="ECE2D0"/>
                </a:solidFill>
                <a:latin typeface="Calibri" pitchFamily="34" charset="0"/>
                <a:ea typeface="Calibri" pitchFamily="34" charset="-122"/>
                <a:cs typeface="Calibri" pitchFamily="34" charset="-120"/>
              </a:rPr>
              <a:t>JOURNAL OF INFORMATION SCIENCE  ·  2026</a:t>
            </a:r>
            <a:endParaRPr lang="en-US" sz="1000" dirty="0"/>
          </a:p>
        </p:txBody>
      </p:sp>
      <p:sp>
        <p:nvSpPr>
          <p:cNvPr id="5" name="Text 3"/>
          <p:cNvSpPr txBox="1"/>
          <p:nvPr/>
        </p:nvSpPr>
        <p:spPr>
          <a:xfrm>
            <a:off x="502920" y="1325880"/>
            <a:ext cx="6400800" cy="1463040"/>
          </a:xfrm>
          <a:prstGeom prst="rect">
            <a:avLst/>
          </a:prstGeom>
          <a:noFill/>
          <a:ln/>
        </p:spPr>
        <p:txBody>
          <a:bodyPr wrap="square" lIns="0" tIns="0" rIns="0" bIns="0" rtlCol="0" anchor="ctr"/>
          <a:lstStyle/>
          <a:p>
            <a:pPr marL="0" indent="0">
              <a:lnSpc>
                <a:spcPct val="95000"/>
              </a:lnSpc>
              <a:buNone/>
            </a:pPr>
            <a:r>
              <a:rPr lang="en-US" sz="4200" b="1" dirty="0">
                <a:solidFill>
                  <a:srgbClr val="FFFFFF"/>
                </a:solidFill>
                <a:latin typeface="Cambria" pitchFamily="34" charset="0"/>
                <a:ea typeface="Cambria" pitchFamily="34" charset="-122"/>
                <a:cs typeface="Cambria" pitchFamily="34" charset="-120"/>
              </a:rPr>
              <a:t>How social science</a:t>
            </a:r>
            <a:endParaRPr lang="en-US" sz="4200" dirty="0"/>
          </a:p>
          <a:p>
            <a:pPr marL="0" indent="0">
              <a:lnSpc>
                <a:spcPct val="95000"/>
              </a:lnSpc>
              <a:buNone/>
            </a:pPr>
            <a:r>
              <a:rPr lang="en-US" sz="4200" b="1" dirty="0">
                <a:solidFill>
                  <a:srgbClr val="FFFFFF"/>
                </a:solidFill>
                <a:latin typeface="Cambria" pitchFamily="34" charset="0"/>
                <a:ea typeface="Cambria" pitchFamily="34" charset="-122"/>
                <a:cs typeface="Cambria" pitchFamily="34" charset="-120"/>
              </a:rPr>
              <a:t>academics use AI</a:t>
            </a:r>
            <a:endParaRPr lang="en-US" sz="4200" dirty="0"/>
          </a:p>
        </p:txBody>
      </p:sp>
      <p:sp>
        <p:nvSpPr>
          <p:cNvPr id="6" name="Text 4"/>
          <p:cNvSpPr txBox="1"/>
          <p:nvPr/>
        </p:nvSpPr>
        <p:spPr>
          <a:xfrm>
            <a:off x="502920" y="2798064"/>
            <a:ext cx="6400800" cy="329184"/>
          </a:xfrm>
          <a:prstGeom prst="rect">
            <a:avLst/>
          </a:prstGeom>
          <a:noFill/>
          <a:ln/>
        </p:spPr>
        <p:txBody>
          <a:bodyPr wrap="square" lIns="0" tIns="0" rIns="0" bIns="0" rtlCol="0" anchor="ctr"/>
          <a:lstStyle/>
          <a:p>
            <a:pPr marL="0" indent="0">
              <a:buNone/>
            </a:pPr>
            <a:r>
              <a:rPr lang="en-US" sz="1900" i="1" dirty="0">
                <a:solidFill>
                  <a:srgbClr val="ECE2D0"/>
                </a:solidFill>
                <a:latin typeface="Cambria" pitchFamily="34" charset="0"/>
                <a:ea typeface="Cambria" pitchFamily="34" charset="-122"/>
                <a:cs typeface="Cambria" pitchFamily="34" charset="-120"/>
              </a:rPr>
              <a:t>Activities and tools</a:t>
            </a:r>
            <a:endParaRPr lang="en-US" sz="1900" dirty="0"/>
          </a:p>
        </p:txBody>
      </p:sp>
      <p:sp>
        <p:nvSpPr>
          <p:cNvPr id="7" name="Shape 5"/>
          <p:cNvSpPr/>
          <p:nvPr/>
        </p:nvSpPr>
        <p:spPr>
          <a:xfrm>
            <a:off x="502920" y="3310128"/>
            <a:ext cx="822960" cy="25603"/>
          </a:xfrm>
          <a:prstGeom prst="rect">
            <a:avLst/>
          </a:prstGeom>
          <a:solidFill>
            <a:srgbClr val="A26769"/>
          </a:solidFill>
          <a:ln w="12700">
            <a:solidFill>
              <a:srgbClr val="A26769"/>
            </a:solidFill>
            <a:prstDash val="solid"/>
          </a:ln>
        </p:spPr>
        <p:txBody>
          <a:bodyPr/>
          <a:lstStyle/>
          <a:p>
            <a:endParaRPr lang="en-US"/>
          </a:p>
        </p:txBody>
      </p:sp>
      <p:sp>
        <p:nvSpPr>
          <p:cNvPr id="8" name="Text 6"/>
          <p:cNvSpPr txBox="1"/>
          <p:nvPr/>
        </p:nvSpPr>
        <p:spPr>
          <a:xfrm>
            <a:off x="502920" y="3493008"/>
            <a:ext cx="6400800" cy="566928"/>
          </a:xfrm>
          <a:prstGeom prst="rect">
            <a:avLst/>
          </a:prstGeom>
          <a:noFill/>
          <a:ln/>
        </p:spPr>
        <p:txBody>
          <a:bodyPr wrap="square" lIns="0" tIns="0" rIns="0" bIns="0" rtlCol="0" anchor="t"/>
          <a:lstStyle/>
          <a:p>
            <a:pPr marL="0" indent="0">
              <a:lnSpc>
                <a:spcPct val="115000"/>
              </a:lnSpc>
              <a:buNone/>
            </a:pPr>
            <a:r>
              <a:rPr lang="en-US" sz="1200" dirty="0">
                <a:solidFill>
                  <a:srgbClr val="E5D6DA"/>
                </a:solidFill>
                <a:latin typeface="Calibri" pitchFamily="34" charset="0"/>
                <a:ea typeface="Calibri" pitchFamily="34" charset="-122"/>
                <a:cs typeface="Calibri" pitchFamily="34" charset="-120"/>
              </a:rPr>
              <a:t>Erika Janiūnienė · Fausta Kepalienė · Elena Macevičiūtė  (Vilnius University)</a:t>
            </a:r>
            <a:endParaRPr lang="en-US" sz="1200" dirty="0"/>
          </a:p>
          <a:p>
            <a:pPr marL="0" indent="0">
              <a:lnSpc>
                <a:spcPct val="115000"/>
              </a:lnSpc>
              <a:buNone/>
            </a:pPr>
            <a:r>
              <a:rPr lang="en-US" sz="1200" dirty="0">
                <a:solidFill>
                  <a:srgbClr val="E5D6DA"/>
                </a:solidFill>
                <a:latin typeface="Calibri" pitchFamily="34" charset="0"/>
                <a:ea typeface="Calibri" pitchFamily="34" charset="-122"/>
                <a:cs typeface="Calibri" pitchFamily="34" charset="-120"/>
              </a:rPr>
              <a:t>Thomas D. Wilson  (University of Borås)</a:t>
            </a:r>
          </a:p>
          <a:p>
            <a:pPr marL="0" indent="0">
              <a:lnSpc>
                <a:spcPct val="115000"/>
              </a:lnSpc>
              <a:buNone/>
            </a:pPr>
            <a:r>
              <a:rPr lang="en-US" sz="1200" dirty="0">
                <a:solidFill>
                  <a:srgbClr val="E5D6DA"/>
                </a:solidFill>
                <a:latin typeface="Calibri" pitchFamily="34" charset="0"/>
                <a:cs typeface="Calibri" pitchFamily="34" charset="-120"/>
              </a:rPr>
              <a:t>Presented by Gabrielle Dobbs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WHY THIS STUDY</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Nobody had asked the researchers themselves</a:t>
            </a:r>
            <a:endParaRPr lang="en-US" sz="3100" dirty="0"/>
          </a:p>
        </p:txBody>
      </p:sp>
      <p:sp>
        <p:nvSpPr>
          <p:cNvPr id="4" name="Text 2"/>
          <p:cNvSpPr txBox="1"/>
          <p:nvPr/>
        </p:nvSpPr>
        <p:spPr>
          <a:xfrm>
            <a:off x="502920" y="1188720"/>
            <a:ext cx="8138160" cy="566928"/>
          </a:xfrm>
          <a:prstGeom prst="rect">
            <a:avLst/>
          </a:prstGeom>
          <a:noFill/>
          <a:ln/>
        </p:spPr>
        <p:txBody>
          <a:bodyPr wrap="square" lIns="0" tIns="0" rIns="0" bIns="0" rtlCol="0" anchor="t"/>
          <a:lstStyle/>
          <a:p>
            <a:pPr marL="0" indent="0">
              <a:lnSpc>
                <a:spcPct val="115000"/>
              </a:lnSpc>
              <a:buNone/>
            </a:pPr>
            <a:r>
              <a:rPr lang="en-US" sz="1300" dirty="0">
                <a:solidFill>
                  <a:srgbClr val="2B2124"/>
                </a:solidFill>
                <a:latin typeface="Calibri" pitchFamily="34" charset="0"/>
                <a:ea typeface="Calibri" pitchFamily="34" charset="-122"/>
                <a:cs typeface="Calibri" pitchFamily="34" charset="-120"/>
              </a:rPr>
              <a:t>Generative AI research is dominated by computer scientists. Social scientists are among the least active users — and Lithuania sits near the bottom of the EU's AI R&amp;D (research and development) activity score. The authors call their case doubly lagging.</a:t>
            </a:r>
            <a:endParaRPr lang="en-US" sz="1300" dirty="0"/>
          </a:p>
        </p:txBody>
      </p:sp>
      <p:sp>
        <p:nvSpPr>
          <p:cNvPr id="5" name="Shape 3"/>
          <p:cNvSpPr/>
          <p:nvPr/>
        </p:nvSpPr>
        <p:spPr>
          <a:xfrm>
            <a:off x="502920" y="1901952"/>
            <a:ext cx="2697480" cy="1627632"/>
          </a:xfrm>
          <a:prstGeom prst="roundRect">
            <a:avLst>
              <a:gd name="adj" fmla="val 4494"/>
            </a:avLst>
          </a:prstGeom>
          <a:solidFill>
            <a:srgbClr val="F6F0EE"/>
          </a:solidFill>
          <a:ln w="12700">
            <a:solidFill>
              <a:srgbClr val="F6F0EE"/>
            </a:solidFill>
            <a:prstDash val="solid"/>
          </a:ln>
        </p:spPr>
        <p:txBody>
          <a:bodyPr/>
          <a:lstStyle/>
          <a:p>
            <a:endParaRPr lang="en-US"/>
          </a:p>
        </p:txBody>
      </p:sp>
      <p:sp>
        <p:nvSpPr>
          <p:cNvPr id="6" name="Text 4"/>
          <p:cNvSpPr txBox="1"/>
          <p:nvPr/>
        </p:nvSpPr>
        <p:spPr>
          <a:xfrm>
            <a:off x="667512" y="2048256"/>
            <a:ext cx="2368296" cy="603504"/>
          </a:xfrm>
          <a:prstGeom prst="rect">
            <a:avLst/>
          </a:prstGeom>
          <a:noFill/>
          <a:ln/>
        </p:spPr>
        <p:txBody>
          <a:bodyPr wrap="square" lIns="0" tIns="0" rIns="0" bIns="0" rtlCol="0" anchor="ctr"/>
          <a:lstStyle/>
          <a:p>
            <a:pPr marL="0" indent="0">
              <a:buNone/>
            </a:pPr>
            <a:r>
              <a:rPr lang="en-US" sz="3600" b="1" dirty="0">
                <a:solidFill>
                  <a:srgbClr val="6D2E46"/>
                </a:solidFill>
                <a:latin typeface="Cambria" pitchFamily="34" charset="0"/>
                <a:ea typeface="Cambria" pitchFamily="34" charset="-122"/>
                <a:cs typeface="Cambria" pitchFamily="34" charset="-120"/>
              </a:rPr>
              <a:t>33 / 200</a:t>
            </a:r>
            <a:endParaRPr lang="en-US" sz="3600" dirty="0"/>
          </a:p>
        </p:txBody>
      </p:sp>
      <p:sp>
        <p:nvSpPr>
          <p:cNvPr id="7" name="Text 5"/>
          <p:cNvSpPr txBox="1"/>
          <p:nvPr/>
        </p:nvSpPr>
        <p:spPr>
          <a:xfrm>
            <a:off x="667512" y="2651760"/>
            <a:ext cx="2368296" cy="731520"/>
          </a:xfrm>
          <a:prstGeom prst="rect">
            <a:avLst/>
          </a:prstGeom>
          <a:noFill/>
          <a:ln/>
        </p:spPr>
        <p:txBody>
          <a:bodyPr wrap="square" lIns="0" tIns="0" rIns="0" bIns="0" rtlCol="0" anchor="t"/>
          <a:lstStyle/>
          <a:p>
            <a:pPr marL="0" indent="0">
              <a:lnSpc>
                <a:spcPct val="108000"/>
              </a:lnSpc>
              <a:buNone/>
            </a:pPr>
            <a:r>
              <a:rPr lang="en-US" sz="1100" dirty="0">
                <a:solidFill>
                  <a:srgbClr val="7A6B6E"/>
                </a:solidFill>
                <a:latin typeface="Calibri" pitchFamily="34" charset="0"/>
                <a:ea typeface="Calibri" pitchFamily="34" charset="-122"/>
                <a:cs typeface="Calibri" pitchFamily="34" charset="-120"/>
              </a:rPr>
              <a:t>Google Scholar publications (2023–24) matching “generative AI” + “social sciences” that actually concerned AI use in scientific research</a:t>
            </a:r>
            <a:endParaRPr lang="en-US" sz="1100" dirty="0"/>
          </a:p>
        </p:txBody>
      </p:sp>
      <p:sp>
        <p:nvSpPr>
          <p:cNvPr id="8" name="Shape 6"/>
          <p:cNvSpPr/>
          <p:nvPr/>
        </p:nvSpPr>
        <p:spPr>
          <a:xfrm>
            <a:off x="3337560" y="1901952"/>
            <a:ext cx="2697480" cy="1627632"/>
          </a:xfrm>
          <a:prstGeom prst="roundRect">
            <a:avLst>
              <a:gd name="adj" fmla="val 4494"/>
            </a:avLst>
          </a:prstGeom>
          <a:solidFill>
            <a:srgbClr val="F6F0EE"/>
          </a:solidFill>
          <a:ln w="12700">
            <a:solidFill>
              <a:srgbClr val="F6F0EE"/>
            </a:solidFill>
            <a:prstDash val="solid"/>
          </a:ln>
        </p:spPr>
        <p:txBody>
          <a:bodyPr/>
          <a:lstStyle/>
          <a:p>
            <a:endParaRPr lang="en-US"/>
          </a:p>
        </p:txBody>
      </p:sp>
      <p:sp>
        <p:nvSpPr>
          <p:cNvPr id="9" name="Text 7"/>
          <p:cNvSpPr txBox="1"/>
          <p:nvPr/>
        </p:nvSpPr>
        <p:spPr>
          <a:xfrm>
            <a:off x="3502152" y="2048256"/>
            <a:ext cx="2368296" cy="603504"/>
          </a:xfrm>
          <a:prstGeom prst="rect">
            <a:avLst/>
          </a:prstGeom>
          <a:noFill/>
          <a:ln/>
        </p:spPr>
        <p:txBody>
          <a:bodyPr wrap="square" lIns="0" tIns="0" rIns="0" bIns="0" rtlCol="0" anchor="ctr"/>
          <a:lstStyle/>
          <a:p>
            <a:pPr marL="0" indent="0">
              <a:buNone/>
            </a:pPr>
            <a:r>
              <a:rPr lang="en-US" sz="3600" b="1" dirty="0">
                <a:solidFill>
                  <a:srgbClr val="6D2E46"/>
                </a:solidFill>
                <a:latin typeface="Cambria" pitchFamily="34" charset="0"/>
                <a:ea typeface="Cambria" pitchFamily="34" charset="-122"/>
                <a:cs typeface="Cambria" pitchFamily="34" charset="-120"/>
              </a:rPr>
              <a:t>Review</a:t>
            </a:r>
            <a:endParaRPr lang="en-US" sz="3600" dirty="0"/>
          </a:p>
        </p:txBody>
      </p:sp>
      <p:sp>
        <p:nvSpPr>
          <p:cNvPr id="10" name="Text 8"/>
          <p:cNvSpPr txBox="1"/>
          <p:nvPr/>
        </p:nvSpPr>
        <p:spPr>
          <a:xfrm>
            <a:off x="3502152" y="2651760"/>
            <a:ext cx="2368296" cy="731520"/>
          </a:xfrm>
          <a:prstGeom prst="rect">
            <a:avLst/>
          </a:prstGeom>
          <a:noFill/>
          <a:ln/>
        </p:spPr>
        <p:txBody>
          <a:bodyPr wrap="square" lIns="0" tIns="0" rIns="0" bIns="0" rtlCol="0" anchor="t"/>
          <a:lstStyle/>
          <a:p>
            <a:pPr marL="0" indent="0">
              <a:lnSpc>
                <a:spcPct val="108000"/>
              </a:lnSpc>
              <a:buNone/>
            </a:pPr>
            <a:r>
              <a:rPr lang="en-US" sz="1100" dirty="0">
                <a:solidFill>
                  <a:srgbClr val="7A6B6E"/>
                </a:solidFill>
                <a:latin typeface="Calibri" pitchFamily="34" charset="0"/>
                <a:ea typeface="Calibri" pitchFamily="34" charset="-122"/>
                <a:cs typeface="Calibri" pitchFamily="34" charset="-120"/>
              </a:rPr>
              <a:t>Almost half of the relevant literature is review articles. Most of the rest studies students and teaching, not researchers</a:t>
            </a:r>
            <a:endParaRPr lang="en-US" sz="1100" dirty="0"/>
          </a:p>
        </p:txBody>
      </p:sp>
      <p:sp>
        <p:nvSpPr>
          <p:cNvPr id="11" name="Shape 9"/>
          <p:cNvSpPr/>
          <p:nvPr/>
        </p:nvSpPr>
        <p:spPr>
          <a:xfrm>
            <a:off x="6172200" y="1901952"/>
            <a:ext cx="2697480" cy="1627632"/>
          </a:xfrm>
          <a:prstGeom prst="roundRect">
            <a:avLst>
              <a:gd name="adj" fmla="val 4494"/>
            </a:avLst>
          </a:prstGeom>
          <a:solidFill>
            <a:srgbClr val="6D2E46"/>
          </a:solidFill>
          <a:ln w="12700">
            <a:solidFill>
              <a:srgbClr val="6D2E46"/>
            </a:solidFill>
            <a:prstDash val="solid"/>
          </a:ln>
        </p:spPr>
        <p:txBody>
          <a:bodyPr/>
          <a:lstStyle/>
          <a:p>
            <a:endParaRPr lang="en-US"/>
          </a:p>
        </p:txBody>
      </p:sp>
      <p:sp>
        <p:nvSpPr>
          <p:cNvPr id="12" name="Text 10"/>
          <p:cNvSpPr txBox="1"/>
          <p:nvPr/>
        </p:nvSpPr>
        <p:spPr>
          <a:xfrm>
            <a:off x="6336792" y="2048256"/>
            <a:ext cx="2368296" cy="603504"/>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13</a:t>
            </a:r>
            <a:endParaRPr lang="en-US" sz="3600" dirty="0"/>
          </a:p>
        </p:txBody>
      </p:sp>
      <p:sp>
        <p:nvSpPr>
          <p:cNvPr id="13" name="Text 11"/>
          <p:cNvSpPr txBox="1"/>
          <p:nvPr/>
        </p:nvSpPr>
        <p:spPr>
          <a:xfrm>
            <a:off x="6336792" y="2651760"/>
            <a:ext cx="2368296" cy="731520"/>
          </a:xfrm>
          <a:prstGeom prst="rect">
            <a:avLst/>
          </a:prstGeom>
          <a:noFill/>
          <a:ln/>
        </p:spPr>
        <p:txBody>
          <a:bodyPr wrap="square" lIns="0" tIns="0" rIns="0" bIns="0" rtlCol="0" anchor="t"/>
          <a:lstStyle/>
          <a:p>
            <a:pPr marL="0" indent="0">
              <a:lnSpc>
                <a:spcPct val="108000"/>
              </a:lnSpc>
              <a:buNone/>
            </a:pPr>
            <a:r>
              <a:rPr lang="en-US" sz="1100" dirty="0">
                <a:solidFill>
                  <a:srgbClr val="E8D8DC"/>
                </a:solidFill>
                <a:latin typeface="Calibri" pitchFamily="34" charset="0"/>
                <a:ea typeface="Calibri" pitchFamily="34" charset="-122"/>
                <a:cs typeface="Calibri" pitchFamily="34" charset="-120"/>
              </a:rPr>
              <a:t>social scientists interviewed at Vilnius University — the study this paper reports</a:t>
            </a:r>
            <a:endParaRPr lang="en-US" sz="1100" dirty="0"/>
          </a:p>
        </p:txBody>
      </p:sp>
      <p:sp>
        <p:nvSpPr>
          <p:cNvPr id="14" name="Text 12"/>
          <p:cNvSpPr txBox="1"/>
          <p:nvPr/>
        </p:nvSpPr>
        <p:spPr>
          <a:xfrm>
            <a:off x="502920" y="3621024"/>
            <a:ext cx="8138160" cy="475488"/>
          </a:xfrm>
          <a:prstGeom prst="rect">
            <a:avLst/>
          </a:prstGeom>
          <a:noFill/>
          <a:ln/>
        </p:spPr>
        <p:txBody>
          <a:bodyPr wrap="square" lIns="0" tIns="0" rIns="0" bIns="0" rtlCol="0" anchor="ctr"/>
          <a:lstStyle/>
          <a:p>
            <a:pPr marL="0" indent="0">
              <a:buNone/>
            </a:pPr>
            <a:r>
              <a:rPr lang="en-US" sz="1450" b="1" i="1" dirty="0">
                <a:solidFill>
                  <a:srgbClr val="6D2E46"/>
                </a:solidFill>
                <a:latin typeface="Cambria" pitchFamily="34" charset="0"/>
                <a:ea typeface="Cambria" pitchFamily="34" charset="-122"/>
                <a:cs typeface="Cambria" pitchFamily="34" charset="-120"/>
              </a:rPr>
              <a:t>Research problem:  how does Lithuania's social sciences academic community experience the use of AI in academic activities?</a:t>
            </a:r>
            <a:endParaRPr lang="en-US" sz="1450" dirty="0"/>
          </a:p>
        </p:txBody>
      </p:sp>
      <p:sp>
        <p:nvSpPr>
          <p:cNvPr id="15" name="Text 13"/>
          <p:cNvSpPr txBox="1"/>
          <p:nvPr/>
        </p:nvSpPr>
        <p:spPr>
          <a:xfrm>
            <a:off x="502920" y="4133088"/>
            <a:ext cx="8138160" cy="365760"/>
          </a:xfrm>
          <a:prstGeom prst="rect">
            <a:avLst/>
          </a:prstGeom>
          <a:noFill/>
          <a:ln/>
        </p:spPr>
        <p:txBody>
          <a:bodyPr wrap="square" lIns="0" tIns="0" rIns="0" bIns="0" rtlCol="0" anchor="ctr"/>
          <a:lstStyle/>
          <a:p>
            <a:pPr marL="0" indent="0">
              <a:buNone/>
            </a:pPr>
            <a:r>
              <a:rPr lang="en-US" sz="1200" dirty="0">
                <a:solidFill>
                  <a:srgbClr val="7A6B6E"/>
                </a:solidFill>
                <a:latin typeface="Calibri" pitchFamily="34" charset="0"/>
                <a:ea typeface="Calibri" pitchFamily="34" charset="-122"/>
                <a:cs typeface="Calibri" pitchFamily="34" charset="-120"/>
              </a:rPr>
              <a:t>Three sub-questions:  needs and motives  ·  AI's perceived role and value  ·  the rules and norms emerging in the community</a:t>
            </a:r>
            <a:endParaRPr lang="en-US" sz="1200" dirty="0"/>
          </a:p>
        </p:txBody>
      </p:sp>
      <p:sp>
        <p:nvSpPr>
          <p:cNvPr id="16" name="Text 14"/>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Introduction and Literature review, pp.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FRAMEWORK</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Activity theory: AI as a mediating artefact</a:t>
            </a:r>
            <a:endParaRPr lang="en-US" sz="3100" dirty="0"/>
          </a:p>
        </p:txBody>
      </p:sp>
      <p:sp>
        <p:nvSpPr>
          <p:cNvPr id="4" name="Text 2"/>
          <p:cNvSpPr txBox="1"/>
          <p:nvPr/>
        </p:nvSpPr>
        <p:spPr>
          <a:xfrm>
            <a:off x="502920" y="1188720"/>
            <a:ext cx="3520440" cy="3017520"/>
          </a:xfrm>
          <a:prstGeom prst="rect">
            <a:avLst/>
          </a:prstGeom>
          <a:noFill/>
          <a:ln/>
        </p:spPr>
        <p:txBody>
          <a:bodyPr wrap="square" lIns="0" tIns="0" rIns="0" bIns="0" rtlCol="0" anchor="t"/>
          <a:lstStyle/>
          <a:p>
            <a:pPr marL="0" indent="0">
              <a:lnSpc>
                <a:spcPct val="116000"/>
              </a:lnSpc>
              <a:buNone/>
            </a:pPr>
            <a:r>
              <a:rPr lang="en-US" sz="1200" dirty="0">
                <a:solidFill>
                  <a:srgbClr val="2B2124"/>
                </a:solidFill>
                <a:latin typeface="Calibri" pitchFamily="34" charset="0"/>
                <a:ea typeface="Calibri" pitchFamily="34" charset="-122"/>
                <a:cs typeface="Calibri" pitchFamily="34" charset="-120"/>
              </a:rPr>
              <a:t>Vygotsky, 1930s; developed by Engeström. A subject works on an object through instruments, inside a community with its own norms and division of labour.</a:t>
            </a:r>
            <a:endParaRPr lang="en-US" sz="1200" dirty="0"/>
          </a:p>
          <a:p>
            <a:pPr marL="0" indent="0">
              <a:lnSpc>
                <a:spcPct val="116000"/>
              </a:lnSpc>
              <a:buNone/>
            </a:pPr>
            <a:endParaRPr lang="en-US" sz="1200" dirty="0"/>
          </a:p>
          <a:p>
            <a:pPr marL="0" indent="0">
              <a:lnSpc>
                <a:spcPct val="116000"/>
              </a:lnSpc>
              <a:buNone/>
            </a:pPr>
            <a:r>
              <a:rPr lang="en-US" sz="1200" dirty="0">
                <a:solidFill>
                  <a:srgbClr val="2B2124"/>
                </a:solidFill>
                <a:latin typeface="Calibri" pitchFamily="34" charset="0"/>
                <a:ea typeface="Calibri" pitchFamily="34" charset="-122"/>
                <a:cs typeface="Calibri" pitchFamily="34" charset="-120"/>
              </a:rPr>
              <a:t>The authors use T.D. Wilson's version, which adds feedback loops and cultural-historical conditions.</a:t>
            </a:r>
            <a:endParaRPr lang="en-US" sz="1200" dirty="0"/>
          </a:p>
          <a:p>
            <a:pPr marL="0" indent="0">
              <a:lnSpc>
                <a:spcPct val="116000"/>
              </a:lnSpc>
              <a:buNone/>
            </a:pPr>
            <a:endParaRPr lang="en-US" sz="1200" dirty="0"/>
          </a:p>
          <a:p>
            <a:pPr marL="0" indent="0">
              <a:lnSpc>
                <a:spcPct val="116000"/>
              </a:lnSpc>
              <a:buNone/>
            </a:pPr>
            <a:r>
              <a:rPr lang="en-US" sz="1200" dirty="0">
                <a:solidFill>
                  <a:srgbClr val="2B2124"/>
                </a:solidFill>
                <a:latin typeface="Calibri" pitchFamily="34" charset="0"/>
                <a:ea typeface="Calibri" pitchFamily="34" charset="-122"/>
                <a:cs typeface="Calibri" pitchFamily="34" charset="-120"/>
              </a:rPr>
              <a:t>The payoff: AI adoption becomes a question about human behaviour, not about technology — and the framework's real value is naming the tensions between elements.</a:t>
            </a:r>
            <a:endParaRPr lang="en-US" sz="1200" dirty="0"/>
          </a:p>
        </p:txBody>
      </p:sp>
      <p:sp>
        <p:nvSpPr>
          <p:cNvPr id="5" name="Shape 3"/>
          <p:cNvSpPr/>
          <p:nvPr/>
        </p:nvSpPr>
        <p:spPr>
          <a:xfrm>
            <a:off x="4343400" y="1133856"/>
            <a:ext cx="4297680" cy="3127248"/>
          </a:xfrm>
          <a:prstGeom prst="roundRect">
            <a:avLst>
              <a:gd name="adj" fmla="val 2339"/>
            </a:avLst>
          </a:prstGeom>
          <a:solidFill>
            <a:srgbClr val="F6F0EE"/>
          </a:solidFill>
          <a:ln w="12700">
            <a:solidFill>
              <a:srgbClr val="F6F0EE"/>
            </a:solidFill>
            <a:prstDash val="solid"/>
          </a:ln>
        </p:spPr>
        <p:txBody>
          <a:bodyPr/>
          <a:lstStyle/>
          <a:p>
            <a:endParaRPr lang="en-US"/>
          </a:p>
        </p:txBody>
      </p:sp>
      <p:sp>
        <p:nvSpPr>
          <p:cNvPr id="6" name="Shape 4"/>
          <p:cNvSpPr/>
          <p:nvPr/>
        </p:nvSpPr>
        <p:spPr>
          <a:xfrm>
            <a:off x="4471416" y="1261872"/>
            <a:ext cx="4041648" cy="2651760"/>
          </a:xfrm>
          <a:prstGeom prst="rect">
            <a:avLst/>
          </a:prstGeom>
          <a:solidFill>
            <a:srgbClr val="F6F0EE"/>
          </a:solidFill>
          <a:ln w="12700">
            <a:solidFill>
              <a:srgbClr val="A26769"/>
            </a:solidFill>
            <a:prstDash val="solid"/>
          </a:ln>
        </p:spPr>
        <p:txBody>
          <a:bodyPr/>
          <a:lstStyle/>
          <a:p>
            <a:endParaRPr lang="en-US"/>
          </a:p>
        </p:txBody>
      </p:sp>
      <p:sp>
        <p:nvSpPr>
          <p:cNvPr id="7" name="Text 5"/>
          <p:cNvSpPr txBox="1"/>
          <p:nvPr/>
        </p:nvSpPr>
        <p:spPr>
          <a:xfrm>
            <a:off x="4471416" y="1298448"/>
            <a:ext cx="4041648" cy="182880"/>
          </a:xfrm>
          <a:prstGeom prst="rect">
            <a:avLst/>
          </a:prstGeom>
          <a:noFill/>
          <a:ln/>
        </p:spPr>
        <p:txBody>
          <a:bodyPr wrap="square" lIns="0" tIns="0" rIns="0" bIns="0" rtlCol="0" anchor="ctr"/>
          <a:lstStyle/>
          <a:p>
            <a:pPr marL="0" indent="0" algn="ctr">
              <a:buNone/>
            </a:pPr>
            <a:r>
              <a:rPr lang="en-US" sz="800" i="1" dirty="0">
                <a:solidFill>
                  <a:srgbClr val="7A6B6E"/>
                </a:solidFill>
                <a:latin typeface="Calibri" pitchFamily="34" charset="0"/>
                <a:ea typeface="Calibri" pitchFamily="34" charset="-122"/>
                <a:cs typeface="Calibri" pitchFamily="34" charset="-120"/>
              </a:rPr>
              <a:t>Feedback</a:t>
            </a:r>
            <a:endParaRPr lang="en-US" sz="800" dirty="0"/>
          </a:p>
        </p:txBody>
      </p:sp>
      <p:sp>
        <p:nvSpPr>
          <p:cNvPr id="8" name="Shape 6"/>
          <p:cNvSpPr/>
          <p:nvPr/>
        </p:nvSpPr>
        <p:spPr>
          <a:xfrm>
            <a:off x="4553712" y="1572768"/>
            <a:ext cx="768096"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9" name="Text 7"/>
          <p:cNvSpPr txBox="1"/>
          <p:nvPr/>
        </p:nvSpPr>
        <p:spPr>
          <a:xfrm>
            <a:off x="4553712" y="1572768"/>
            <a:ext cx="768096"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Motivation</a:t>
            </a:r>
            <a:endParaRPr lang="en-US" sz="800" dirty="0"/>
          </a:p>
        </p:txBody>
      </p:sp>
      <p:sp>
        <p:nvSpPr>
          <p:cNvPr id="10" name="Shape 8"/>
          <p:cNvSpPr/>
          <p:nvPr/>
        </p:nvSpPr>
        <p:spPr>
          <a:xfrm>
            <a:off x="4553712" y="1975104"/>
            <a:ext cx="768096"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1" name="Text 9"/>
          <p:cNvSpPr txBox="1"/>
          <p:nvPr/>
        </p:nvSpPr>
        <p:spPr>
          <a:xfrm>
            <a:off x="4553712" y="1975104"/>
            <a:ext cx="768096"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Goal</a:t>
            </a:r>
            <a:endParaRPr lang="en-US" sz="800" dirty="0"/>
          </a:p>
        </p:txBody>
      </p:sp>
      <p:sp>
        <p:nvSpPr>
          <p:cNvPr id="12" name="Shape 10"/>
          <p:cNvSpPr/>
          <p:nvPr/>
        </p:nvSpPr>
        <p:spPr>
          <a:xfrm>
            <a:off x="5614416" y="1572768"/>
            <a:ext cx="841248"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3" name="Text 11"/>
          <p:cNvSpPr txBox="1"/>
          <p:nvPr/>
        </p:nvSpPr>
        <p:spPr>
          <a:xfrm>
            <a:off x="5614416" y="1572768"/>
            <a:ext cx="841248"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Subject</a:t>
            </a:r>
            <a:endParaRPr lang="en-US" sz="800" dirty="0"/>
          </a:p>
        </p:txBody>
      </p:sp>
      <p:sp>
        <p:nvSpPr>
          <p:cNvPr id="14" name="Shape 12"/>
          <p:cNvSpPr/>
          <p:nvPr/>
        </p:nvSpPr>
        <p:spPr>
          <a:xfrm>
            <a:off x="6675120" y="1572768"/>
            <a:ext cx="841248"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5" name="Text 13"/>
          <p:cNvSpPr txBox="1"/>
          <p:nvPr/>
        </p:nvSpPr>
        <p:spPr>
          <a:xfrm>
            <a:off x="6675120" y="1572768"/>
            <a:ext cx="841248"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Object</a:t>
            </a:r>
            <a:endParaRPr lang="en-US" sz="800" dirty="0"/>
          </a:p>
        </p:txBody>
      </p:sp>
      <p:sp>
        <p:nvSpPr>
          <p:cNvPr id="16" name="Shape 14"/>
          <p:cNvSpPr/>
          <p:nvPr/>
        </p:nvSpPr>
        <p:spPr>
          <a:xfrm>
            <a:off x="7699248" y="1572768"/>
            <a:ext cx="822960"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17" name="Text 15"/>
          <p:cNvSpPr txBox="1"/>
          <p:nvPr/>
        </p:nvSpPr>
        <p:spPr>
          <a:xfrm>
            <a:off x="7699248" y="1572768"/>
            <a:ext cx="822960"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Outcomes</a:t>
            </a:r>
            <a:endParaRPr lang="en-US" sz="800" dirty="0"/>
          </a:p>
        </p:txBody>
      </p:sp>
      <p:sp>
        <p:nvSpPr>
          <p:cNvPr id="18" name="Shape 16"/>
          <p:cNvSpPr/>
          <p:nvPr/>
        </p:nvSpPr>
        <p:spPr>
          <a:xfrm>
            <a:off x="6473952" y="1659636"/>
            <a:ext cx="182880" cy="118872"/>
          </a:xfrm>
          <a:prstGeom prst="rightArrow">
            <a:avLst/>
          </a:prstGeom>
          <a:solidFill>
            <a:srgbClr val="A26769"/>
          </a:solidFill>
          <a:ln w="12700">
            <a:solidFill>
              <a:srgbClr val="A26769"/>
            </a:solidFill>
            <a:prstDash val="solid"/>
          </a:ln>
        </p:spPr>
        <p:txBody>
          <a:bodyPr/>
          <a:lstStyle/>
          <a:p>
            <a:endParaRPr lang="en-US"/>
          </a:p>
        </p:txBody>
      </p:sp>
      <p:sp>
        <p:nvSpPr>
          <p:cNvPr id="19" name="Shape 17"/>
          <p:cNvSpPr/>
          <p:nvPr/>
        </p:nvSpPr>
        <p:spPr>
          <a:xfrm>
            <a:off x="7534656" y="1659636"/>
            <a:ext cx="146304" cy="118872"/>
          </a:xfrm>
          <a:prstGeom prst="rightArrow">
            <a:avLst/>
          </a:prstGeom>
          <a:solidFill>
            <a:srgbClr val="A26769"/>
          </a:solidFill>
          <a:ln w="12700">
            <a:solidFill>
              <a:srgbClr val="A26769"/>
            </a:solidFill>
            <a:prstDash val="solid"/>
          </a:ln>
        </p:spPr>
        <p:txBody>
          <a:bodyPr/>
          <a:lstStyle/>
          <a:p>
            <a:endParaRPr lang="en-US"/>
          </a:p>
        </p:txBody>
      </p:sp>
      <p:sp>
        <p:nvSpPr>
          <p:cNvPr id="20" name="Shape 18"/>
          <p:cNvSpPr/>
          <p:nvPr/>
        </p:nvSpPr>
        <p:spPr>
          <a:xfrm>
            <a:off x="6272784" y="2340864"/>
            <a:ext cx="1188720" cy="292608"/>
          </a:xfrm>
          <a:prstGeom prst="roundRect">
            <a:avLst>
              <a:gd name="adj" fmla="val 15625"/>
            </a:avLst>
          </a:prstGeom>
          <a:solidFill>
            <a:srgbClr val="6D2E46"/>
          </a:solidFill>
          <a:ln w="12700">
            <a:solidFill>
              <a:srgbClr val="6D2E46"/>
            </a:solidFill>
            <a:prstDash val="solid"/>
          </a:ln>
        </p:spPr>
        <p:txBody>
          <a:bodyPr/>
          <a:lstStyle/>
          <a:p>
            <a:endParaRPr lang="en-US"/>
          </a:p>
        </p:txBody>
      </p:sp>
      <p:sp>
        <p:nvSpPr>
          <p:cNvPr id="21" name="Text 19"/>
          <p:cNvSpPr txBox="1"/>
          <p:nvPr/>
        </p:nvSpPr>
        <p:spPr>
          <a:xfrm>
            <a:off x="6272784" y="2340864"/>
            <a:ext cx="1188720"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Mediating artefacts</a:t>
            </a:r>
            <a:endParaRPr lang="en-US" sz="800" dirty="0"/>
          </a:p>
        </p:txBody>
      </p:sp>
      <p:sp>
        <p:nvSpPr>
          <p:cNvPr id="22" name="Shape 20"/>
          <p:cNvSpPr/>
          <p:nvPr/>
        </p:nvSpPr>
        <p:spPr>
          <a:xfrm>
            <a:off x="6867144" y="1865376"/>
            <a:ext cx="0" cy="475488"/>
          </a:xfrm>
          <a:prstGeom prst="line">
            <a:avLst/>
          </a:prstGeom>
          <a:noFill/>
          <a:ln w="15875">
            <a:solidFill>
              <a:srgbClr val="A26769"/>
            </a:solidFill>
            <a:prstDash val="solid"/>
            <a:headEnd type="triangle"/>
            <a:tailEnd type="none"/>
          </a:ln>
        </p:spPr>
        <p:txBody>
          <a:bodyPr/>
          <a:lstStyle/>
          <a:p>
            <a:endParaRPr lang="en-US"/>
          </a:p>
        </p:txBody>
      </p:sp>
      <p:sp>
        <p:nvSpPr>
          <p:cNvPr id="23" name="Shape 21"/>
          <p:cNvSpPr/>
          <p:nvPr/>
        </p:nvSpPr>
        <p:spPr>
          <a:xfrm>
            <a:off x="5349240" y="2907792"/>
            <a:ext cx="841248"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24" name="Text 22"/>
          <p:cNvSpPr txBox="1"/>
          <p:nvPr/>
        </p:nvSpPr>
        <p:spPr>
          <a:xfrm>
            <a:off x="5349240" y="2907792"/>
            <a:ext cx="841248"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Physical</a:t>
            </a:r>
            <a:endParaRPr lang="en-US" sz="800" dirty="0"/>
          </a:p>
        </p:txBody>
      </p:sp>
      <p:sp>
        <p:nvSpPr>
          <p:cNvPr id="25" name="Shape 23"/>
          <p:cNvSpPr/>
          <p:nvPr/>
        </p:nvSpPr>
        <p:spPr>
          <a:xfrm>
            <a:off x="7223760" y="2907792"/>
            <a:ext cx="841248"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26" name="Text 24"/>
          <p:cNvSpPr txBox="1"/>
          <p:nvPr/>
        </p:nvSpPr>
        <p:spPr>
          <a:xfrm>
            <a:off x="7223760" y="2907792"/>
            <a:ext cx="841248"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Abstract</a:t>
            </a:r>
            <a:endParaRPr lang="en-US" sz="800" dirty="0"/>
          </a:p>
        </p:txBody>
      </p:sp>
      <p:sp>
        <p:nvSpPr>
          <p:cNvPr id="27" name="Shape 25"/>
          <p:cNvSpPr/>
          <p:nvPr/>
        </p:nvSpPr>
        <p:spPr>
          <a:xfrm flipH="1">
            <a:off x="5769864" y="2633472"/>
            <a:ext cx="1097280" cy="274320"/>
          </a:xfrm>
          <a:prstGeom prst="line">
            <a:avLst/>
          </a:prstGeom>
          <a:noFill/>
          <a:ln w="12700">
            <a:solidFill>
              <a:srgbClr val="A26769"/>
            </a:solidFill>
            <a:prstDash val="solid"/>
            <a:tailEnd type="triangle"/>
          </a:ln>
        </p:spPr>
        <p:txBody>
          <a:bodyPr/>
          <a:lstStyle/>
          <a:p>
            <a:endParaRPr lang="en-US"/>
          </a:p>
        </p:txBody>
      </p:sp>
      <p:sp>
        <p:nvSpPr>
          <p:cNvPr id="28" name="Shape 26"/>
          <p:cNvSpPr/>
          <p:nvPr/>
        </p:nvSpPr>
        <p:spPr>
          <a:xfrm>
            <a:off x="6867144" y="2633472"/>
            <a:ext cx="777240" cy="274320"/>
          </a:xfrm>
          <a:prstGeom prst="line">
            <a:avLst/>
          </a:prstGeom>
          <a:noFill/>
          <a:ln w="12700">
            <a:solidFill>
              <a:srgbClr val="A26769"/>
            </a:solidFill>
            <a:prstDash val="solid"/>
            <a:tailEnd type="triangle"/>
          </a:ln>
        </p:spPr>
        <p:txBody>
          <a:bodyPr/>
          <a:lstStyle/>
          <a:p>
            <a:endParaRPr lang="en-US"/>
          </a:p>
        </p:txBody>
      </p:sp>
      <p:sp>
        <p:nvSpPr>
          <p:cNvPr id="29" name="Shape 27"/>
          <p:cNvSpPr/>
          <p:nvPr/>
        </p:nvSpPr>
        <p:spPr>
          <a:xfrm>
            <a:off x="6492240" y="3419856"/>
            <a:ext cx="896112"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30" name="Text 28"/>
          <p:cNvSpPr txBox="1"/>
          <p:nvPr/>
        </p:nvSpPr>
        <p:spPr>
          <a:xfrm>
            <a:off x="6492240" y="3419856"/>
            <a:ext cx="896112"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Norms etc.</a:t>
            </a:r>
            <a:endParaRPr lang="en-US" sz="800" dirty="0"/>
          </a:p>
        </p:txBody>
      </p:sp>
      <p:sp>
        <p:nvSpPr>
          <p:cNvPr id="31" name="Shape 29"/>
          <p:cNvSpPr/>
          <p:nvPr/>
        </p:nvSpPr>
        <p:spPr>
          <a:xfrm>
            <a:off x="7571232" y="3419856"/>
            <a:ext cx="950976"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32" name="Text 30"/>
          <p:cNvSpPr txBox="1"/>
          <p:nvPr/>
        </p:nvSpPr>
        <p:spPr>
          <a:xfrm>
            <a:off x="7571232" y="3419856"/>
            <a:ext cx="950976"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Division of labour</a:t>
            </a:r>
            <a:endParaRPr lang="en-US" sz="800" dirty="0"/>
          </a:p>
        </p:txBody>
      </p:sp>
      <p:sp>
        <p:nvSpPr>
          <p:cNvPr id="33" name="Shape 31"/>
          <p:cNvSpPr/>
          <p:nvPr/>
        </p:nvSpPr>
        <p:spPr>
          <a:xfrm flipH="1">
            <a:off x="6940296" y="3200400"/>
            <a:ext cx="704088" cy="219456"/>
          </a:xfrm>
          <a:prstGeom prst="line">
            <a:avLst/>
          </a:prstGeom>
          <a:noFill/>
          <a:ln w="12700">
            <a:solidFill>
              <a:srgbClr val="A26769"/>
            </a:solidFill>
            <a:prstDash val="solid"/>
            <a:tailEnd type="triangle"/>
          </a:ln>
        </p:spPr>
        <p:txBody>
          <a:bodyPr/>
          <a:lstStyle/>
          <a:p>
            <a:endParaRPr lang="en-US"/>
          </a:p>
        </p:txBody>
      </p:sp>
      <p:sp>
        <p:nvSpPr>
          <p:cNvPr id="34" name="Shape 32"/>
          <p:cNvSpPr/>
          <p:nvPr/>
        </p:nvSpPr>
        <p:spPr>
          <a:xfrm>
            <a:off x="7644384" y="3200400"/>
            <a:ext cx="402336" cy="219456"/>
          </a:xfrm>
          <a:prstGeom prst="line">
            <a:avLst/>
          </a:prstGeom>
          <a:noFill/>
          <a:ln w="12700">
            <a:solidFill>
              <a:srgbClr val="A26769"/>
            </a:solidFill>
            <a:prstDash val="solid"/>
            <a:tailEnd type="triangle"/>
          </a:ln>
        </p:spPr>
        <p:txBody>
          <a:bodyPr/>
          <a:lstStyle/>
          <a:p>
            <a:endParaRPr lang="en-US"/>
          </a:p>
        </p:txBody>
      </p:sp>
      <p:sp>
        <p:nvSpPr>
          <p:cNvPr id="35" name="Text 33"/>
          <p:cNvSpPr txBox="1"/>
          <p:nvPr/>
        </p:nvSpPr>
        <p:spPr>
          <a:xfrm>
            <a:off x="4562856" y="3493008"/>
            <a:ext cx="1097280" cy="201168"/>
          </a:xfrm>
          <a:prstGeom prst="rect">
            <a:avLst/>
          </a:prstGeom>
          <a:noFill/>
          <a:ln/>
        </p:spPr>
        <p:txBody>
          <a:bodyPr wrap="square" lIns="0" tIns="0" rIns="0" bIns="0" rtlCol="0" anchor="ctr"/>
          <a:lstStyle/>
          <a:p>
            <a:pPr marL="0" indent="0">
              <a:buNone/>
            </a:pPr>
            <a:r>
              <a:rPr lang="en-US" sz="800" b="1" dirty="0">
                <a:solidFill>
                  <a:srgbClr val="7A6B6E"/>
                </a:solidFill>
                <a:latin typeface="Calibri" pitchFamily="34" charset="0"/>
                <a:ea typeface="Calibri" pitchFamily="34" charset="-122"/>
                <a:cs typeface="Calibri" pitchFamily="34" charset="-120"/>
              </a:rPr>
              <a:t>COMMUNITY</a:t>
            </a:r>
            <a:endParaRPr lang="en-US" sz="800" dirty="0"/>
          </a:p>
        </p:txBody>
      </p:sp>
      <p:sp>
        <p:nvSpPr>
          <p:cNvPr id="36" name="Shape 34"/>
          <p:cNvSpPr/>
          <p:nvPr/>
        </p:nvSpPr>
        <p:spPr>
          <a:xfrm>
            <a:off x="6035040" y="3931920"/>
            <a:ext cx="1737360" cy="292608"/>
          </a:xfrm>
          <a:prstGeom prst="roundRect">
            <a:avLst>
              <a:gd name="adj" fmla="val 15625"/>
            </a:avLst>
          </a:prstGeom>
          <a:solidFill>
            <a:srgbClr val="FFFFFF"/>
          </a:solidFill>
          <a:ln w="12700">
            <a:solidFill>
              <a:srgbClr val="A26769"/>
            </a:solidFill>
            <a:prstDash val="solid"/>
          </a:ln>
        </p:spPr>
        <p:txBody>
          <a:bodyPr/>
          <a:lstStyle/>
          <a:p>
            <a:endParaRPr lang="en-US"/>
          </a:p>
        </p:txBody>
      </p:sp>
      <p:sp>
        <p:nvSpPr>
          <p:cNvPr id="37" name="Text 35"/>
          <p:cNvSpPr txBox="1"/>
          <p:nvPr/>
        </p:nvSpPr>
        <p:spPr>
          <a:xfrm>
            <a:off x="6035040" y="3931920"/>
            <a:ext cx="1737360" cy="292608"/>
          </a:xfrm>
          <a:prstGeom prst="rect">
            <a:avLst/>
          </a:prstGeom>
          <a:noFill/>
          <a:ln/>
        </p:spPr>
        <p:txBody>
          <a:bodyPr wrap="square" lIns="0" tIns="0" rIns="0" bIns="0" rtlCol="0" anchor="ctr"/>
          <a:lstStyle/>
          <a:p>
            <a:pPr marL="0" indent="0" algn="ctr">
              <a:buNone/>
            </a:pPr>
            <a:r>
              <a:rPr lang="en-US" sz="800" dirty="0">
                <a:solidFill>
                  <a:srgbClr val="2B2124"/>
                </a:solidFill>
                <a:latin typeface="Calibri" pitchFamily="34" charset="0"/>
                <a:ea typeface="Calibri" pitchFamily="34" charset="-122"/>
                <a:cs typeface="Calibri" pitchFamily="34" charset="-120"/>
              </a:rPr>
              <a:t>Cultural-historical conditions</a:t>
            </a:r>
            <a:endParaRPr lang="en-US" sz="800" dirty="0"/>
          </a:p>
        </p:txBody>
      </p:sp>
      <p:sp>
        <p:nvSpPr>
          <p:cNvPr id="38" name="Text 36"/>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After Figure 1 — the process model of activity theory the authors adopt (Wilson)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METHOD</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Thirteen interviews at Vilnius University</a:t>
            </a:r>
            <a:endParaRPr lang="en-US" sz="3100" dirty="0"/>
          </a:p>
        </p:txBody>
      </p:sp>
      <p:sp>
        <p:nvSpPr>
          <p:cNvPr id="4" name="Shape 2"/>
          <p:cNvSpPr/>
          <p:nvPr/>
        </p:nvSpPr>
        <p:spPr>
          <a:xfrm>
            <a:off x="502920" y="1188720"/>
            <a:ext cx="3977640" cy="1481328"/>
          </a:xfrm>
          <a:prstGeom prst="roundRect">
            <a:avLst>
              <a:gd name="adj" fmla="val 4938"/>
            </a:avLst>
          </a:prstGeom>
          <a:solidFill>
            <a:srgbClr val="F6F0EE"/>
          </a:solidFill>
          <a:ln w="12700">
            <a:solidFill>
              <a:srgbClr val="F6F0EE"/>
            </a:solidFill>
            <a:prstDash val="solid"/>
          </a:ln>
        </p:spPr>
        <p:txBody>
          <a:bodyPr/>
          <a:lstStyle/>
          <a:p>
            <a:endParaRPr lang="en-US"/>
          </a:p>
        </p:txBody>
      </p:sp>
      <p:sp>
        <p:nvSpPr>
          <p:cNvPr id="5" name="Text 3"/>
          <p:cNvSpPr txBox="1"/>
          <p:nvPr/>
        </p:nvSpPr>
        <p:spPr>
          <a:xfrm>
            <a:off x="685800" y="1335024"/>
            <a:ext cx="3611880" cy="27432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Who</a:t>
            </a:r>
            <a:endParaRPr lang="en-US" sz="1350" dirty="0"/>
          </a:p>
        </p:txBody>
      </p:sp>
      <p:sp>
        <p:nvSpPr>
          <p:cNvPr id="6" name="Text 4"/>
          <p:cNvSpPr txBox="1"/>
          <p:nvPr/>
        </p:nvSpPr>
        <p:spPr>
          <a:xfrm>
            <a:off x="685800" y="1645920"/>
            <a:ext cx="3611880" cy="877824"/>
          </a:xfrm>
          <a:prstGeom prst="rect">
            <a:avLst/>
          </a:prstGeom>
          <a:noFill/>
          <a:ln/>
        </p:spPr>
        <p:txBody>
          <a:bodyPr wrap="square" lIns="0" tIns="0" rIns="0" bIns="0" rtlCol="0" anchor="t"/>
          <a:lstStyle/>
          <a:p>
            <a:pPr marL="0" indent="0">
              <a:lnSpc>
                <a:spcPct val="112000"/>
              </a:lnSpc>
              <a:buNone/>
            </a:pPr>
            <a:r>
              <a:rPr lang="en-US" sz="1150" dirty="0">
                <a:solidFill>
                  <a:srgbClr val="2B2124"/>
                </a:solidFill>
                <a:latin typeface="Calibri" pitchFamily="34" charset="0"/>
                <a:ea typeface="Calibri" pitchFamily="34" charset="-122"/>
                <a:cs typeface="Calibri" pitchFamily="34" charset="-120"/>
              </a:rPr>
              <a:t>13 social scientists across data management, information security, legal regulation, computational linguistics, digital heritage, history, and political and cultural sociology.</a:t>
            </a:r>
            <a:endParaRPr lang="en-US" sz="1150" dirty="0"/>
          </a:p>
        </p:txBody>
      </p:sp>
      <p:sp>
        <p:nvSpPr>
          <p:cNvPr id="7" name="Shape 5"/>
          <p:cNvSpPr/>
          <p:nvPr/>
        </p:nvSpPr>
        <p:spPr>
          <a:xfrm>
            <a:off x="4663440" y="1188720"/>
            <a:ext cx="3977640" cy="1481328"/>
          </a:xfrm>
          <a:prstGeom prst="roundRect">
            <a:avLst>
              <a:gd name="adj" fmla="val 4938"/>
            </a:avLst>
          </a:prstGeom>
          <a:solidFill>
            <a:srgbClr val="F6F0EE"/>
          </a:solidFill>
          <a:ln w="12700">
            <a:solidFill>
              <a:srgbClr val="F6F0EE"/>
            </a:solidFill>
            <a:prstDash val="solid"/>
          </a:ln>
        </p:spPr>
        <p:txBody>
          <a:bodyPr/>
          <a:lstStyle/>
          <a:p>
            <a:endParaRPr lang="en-US"/>
          </a:p>
        </p:txBody>
      </p:sp>
      <p:sp>
        <p:nvSpPr>
          <p:cNvPr id="8" name="Text 6"/>
          <p:cNvSpPr txBox="1"/>
          <p:nvPr/>
        </p:nvSpPr>
        <p:spPr>
          <a:xfrm>
            <a:off x="4846320" y="1335024"/>
            <a:ext cx="3611880" cy="27432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How they were found</a:t>
            </a:r>
            <a:endParaRPr lang="en-US" sz="1350" dirty="0"/>
          </a:p>
        </p:txBody>
      </p:sp>
      <p:sp>
        <p:nvSpPr>
          <p:cNvPr id="9" name="Text 7"/>
          <p:cNvSpPr txBox="1"/>
          <p:nvPr/>
        </p:nvSpPr>
        <p:spPr>
          <a:xfrm>
            <a:off x="4846320" y="1645920"/>
            <a:ext cx="3611880" cy="877824"/>
          </a:xfrm>
          <a:prstGeom prst="rect">
            <a:avLst/>
          </a:prstGeom>
          <a:noFill/>
          <a:ln/>
        </p:spPr>
        <p:txBody>
          <a:bodyPr wrap="square" lIns="0" tIns="0" rIns="0" bIns="0" rtlCol="0" anchor="t"/>
          <a:lstStyle/>
          <a:p>
            <a:pPr marL="0" indent="0">
              <a:lnSpc>
                <a:spcPct val="112000"/>
              </a:lnSpc>
              <a:buNone/>
            </a:pPr>
            <a:r>
              <a:rPr lang="en-US" sz="1150" dirty="0">
                <a:solidFill>
                  <a:srgbClr val="2B2124"/>
                </a:solidFill>
                <a:latin typeface="Calibri" pitchFamily="34" charset="0"/>
                <a:ea typeface="Calibri" pitchFamily="34" charset="-122"/>
                <a:cs typeface="Calibri" pitchFamily="34" charset="-120"/>
              </a:rPr>
              <a:t>Purposive sampling — convenience plus snowballing, starting from colleagues known to the authors. Chosen for technical competence and diversity of AI use.</a:t>
            </a:r>
            <a:endParaRPr lang="en-US" sz="1150" dirty="0"/>
          </a:p>
        </p:txBody>
      </p:sp>
      <p:sp>
        <p:nvSpPr>
          <p:cNvPr id="10" name="Shape 8"/>
          <p:cNvSpPr/>
          <p:nvPr/>
        </p:nvSpPr>
        <p:spPr>
          <a:xfrm>
            <a:off x="502920" y="2798064"/>
            <a:ext cx="3977640" cy="1481328"/>
          </a:xfrm>
          <a:prstGeom prst="roundRect">
            <a:avLst>
              <a:gd name="adj" fmla="val 4938"/>
            </a:avLst>
          </a:prstGeom>
          <a:solidFill>
            <a:srgbClr val="F6F0EE"/>
          </a:solidFill>
          <a:ln w="12700">
            <a:solidFill>
              <a:srgbClr val="F6F0EE"/>
            </a:solidFill>
            <a:prstDash val="solid"/>
          </a:ln>
        </p:spPr>
        <p:txBody>
          <a:bodyPr/>
          <a:lstStyle/>
          <a:p>
            <a:endParaRPr lang="en-US"/>
          </a:p>
        </p:txBody>
      </p:sp>
      <p:sp>
        <p:nvSpPr>
          <p:cNvPr id="11" name="Text 9"/>
          <p:cNvSpPr txBox="1"/>
          <p:nvPr/>
        </p:nvSpPr>
        <p:spPr>
          <a:xfrm>
            <a:off x="685800" y="2944368"/>
            <a:ext cx="3611880" cy="27432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The interviews</a:t>
            </a:r>
            <a:endParaRPr lang="en-US" sz="1350" dirty="0"/>
          </a:p>
        </p:txBody>
      </p:sp>
      <p:sp>
        <p:nvSpPr>
          <p:cNvPr id="12" name="Text 10"/>
          <p:cNvSpPr txBox="1"/>
          <p:nvPr/>
        </p:nvSpPr>
        <p:spPr>
          <a:xfrm>
            <a:off x="685800" y="3255264"/>
            <a:ext cx="3611880" cy="877824"/>
          </a:xfrm>
          <a:prstGeom prst="rect">
            <a:avLst/>
          </a:prstGeom>
          <a:noFill/>
          <a:ln/>
        </p:spPr>
        <p:txBody>
          <a:bodyPr wrap="square" lIns="0" tIns="0" rIns="0" bIns="0" rtlCol="0" anchor="t"/>
          <a:lstStyle/>
          <a:p>
            <a:pPr marL="0" indent="0">
              <a:lnSpc>
                <a:spcPct val="112000"/>
              </a:lnSpc>
              <a:buNone/>
            </a:pPr>
            <a:r>
              <a:rPr lang="en-US" sz="1150" dirty="0">
                <a:solidFill>
                  <a:srgbClr val="2B2124"/>
                </a:solidFill>
                <a:latin typeface="Calibri" pitchFamily="34" charset="0"/>
                <a:ea typeface="Calibri" pitchFamily="34" charset="-122"/>
                <a:cs typeface="Calibri" pitchFamily="34" charset="-120"/>
              </a:rPr>
              <a:t>Semi-structured, in three blocks matching activity theory. Piloted with two respondents, conducted remotely over Teams, stopped at theoretical saturation.</a:t>
            </a:r>
            <a:endParaRPr lang="en-US" sz="1150" dirty="0"/>
          </a:p>
        </p:txBody>
      </p:sp>
      <p:sp>
        <p:nvSpPr>
          <p:cNvPr id="13" name="Shape 11"/>
          <p:cNvSpPr/>
          <p:nvPr/>
        </p:nvSpPr>
        <p:spPr>
          <a:xfrm>
            <a:off x="4663440" y="2798064"/>
            <a:ext cx="3977640" cy="1481328"/>
          </a:xfrm>
          <a:prstGeom prst="roundRect">
            <a:avLst>
              <a:gd name="adj" fmla="val 4938"/>
            </a:avLst>
          </a:prstGeom>
          <a:solidFill>
            <a:srgbClr val="F6F0EE"/>
          </a:solidFill>
          <a:ln w="12700">
            <a:solidFill>
              <a:srgbClr val="F6F0EE"/>
            </a:solidFill>
            <a:prstDash val="solid"/>
          </a:ln>
        </p:spPr>
        <p:txBody>
          <a:bodyPr/>
          <a:lstStyle/>
          <a:p>
            <a:endParaRPr lang="en-US"/>
          </a:p>
        </p:txBody>
      </p:sp>
      <p:sp>
        <p:nvSpPr>
          <p:cNvPr id="14" name="Text 12"/>
          <p:cNvSpPr txBox="1"/>
          <p:nvPr/>
        </p:nvSpPr>
        <p:spPr>
          <a:xfrm>
            <a:off x="4846320" y="2944368"/>
            <a:ext cx="3611880" cy="274320"/>
          </a:xfrm>
          <a:prstGeom prst="rect">
            <a:avLst/>
          </a:prstGeom>
          <a:noFill/>
          <a:ln/>
        </p:spPr>
        <p:txBody>
          <a:bodyPr wrap="square" lIns="0" tIns="0" rIns="0" bIns="0" rtlCol="0" anchor="ctr"/>
          <a:lstStyle/>
          <a:p>
            <a:pPr marL="0" indent="0">
              <a:buNone/>
            </a:pPr>
            <a:r>
              <a:rPr lang="en-US" sz="1350" b="1" dirty="0">
                <a:solidFill>
                  <a:srgbClr val="6D2E46"/>
                </a:solidFill>
                <a:latin typeface="Calibri" pitchFamily="34" charset="0"/>
                <a:ea typeface="Calibri" pitchFamily="34" charset="-122"/>
                <a:cs typeface="Calibri" pitchFamily="34" charset="-120"/>
              </a:rPr>
              <a:t>The analysis</a:t>
            </a:r>
            <a:endParaRPr lang="en-US" sz="1350" dirty="0"/>
          </a:p>
        </p:txBody>
      </p:sp>
      <p:sp>
        <p:nvSpPr>
          <p:cNvPr id="15" name="Text 13"/>
          <p:cNvSpPr txBox="1"/>
          <p:nvPr/>
        </p:nvSpPr>
        <p:spPr>
          <a:xfrm>
            <a:off x="4846320" y="3255264"/>
            <a:ext cx="3611880" cy="877824"/>
          </a:xfrm>
          <a:prstGeom prst="rect">
            <a:avLst/>
          </a:prstGeom>
          <a:noFill/>
          <a:ln/>
        </p:spPr>
        <p:txBody>
          <a:bodyPr wrap="square" lIns="0" tIns="0" rIns="0" bIns="0" rtlCol="0" anchor="t"/>
          <a:lstStyle/>
          <a:p>
            <a:pPr marL="0" indent="0">
              <a:lnSpc>
                <a:spcPct val="112000"/>
              </a:lnSpc>
              <a:buNone/>
            </a:pPr>
            <a:r>
              <a:rPr lang="en-US" sz="1150" dirty="0">
                <a:solidFill>
                  <a:srgbClr val="2B2124"/>
                </a:solidFill>
                <a:latin typeface="Calibri" pitchFamily="34" charset="0"/>
                <a:ea typeface="Calibri" pitchFamily="34" charset="-122"/>
                <a:cs typeface="Calibri" pitchFamily="34" charset="-120"/>
              </a:rPr>
              <a:t>Content analysis. Coding led by the framework but open to new categories; two researchers coded and cross-reviewed. Respondents reported as R1–R13.</a:t>
            </a:r>
            <a:endParaRPr lang="en-US" sz="1150" dirty="0"/>
          </a:p>
        </p:txBody>
      </p:sp>
      <p:sp>
        <p:nvSpPr>
          <p:cNvPr id="16" name="Text 14"/>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Method, pp. 6–7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FINDING 1</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The motive is time, not capability</a:t>
            </a:r>
            <a:endParaRPr lang="en-US" sz="3100" dirty="0"/>
          </a:p>
        </p:txBody>
      </p:sp>
      <p:sp>
        <p:nvSpPr>
          <p:cNvPr id="4" name="Text 2"/>
          <p:cNvSpPr txBox="1"/>
          <p:nvPr/>
        </p:nvSpPr>
        <p:spPr>
          <a:xfrm>
            <a:off x="502920" y="1170432"/>
            <a:ext cx="4709160" cy="566928"/>
          </a:xfrm>
          <a:prstGeom prst="rect">
            <a:avLst/>
          </a:prstGeom>
          <a:noFill/>
          <a:ln/>
        </p:spPr>
        <p:txBody>
          <a:bodyPr wrap="square" lIns="0" tIns="0" rIns="0" bIns="0" rtlCol="0" anchor="t"/>
          <a:lstStyle/>
          <a:p>
            <a:pPr marL="0" indent="0">
              <a:lnSpc>
                <a:spcPct val="115000"/>
              </a:lnSpc>
              <a:buNone/>
            </a:pPr>
            <a:r>
              <a:rPr lang="en-US" sz="1300" dirty="0">
                <a:solidFill>
                  <a:srgbClr val="2B2124"/>
                </a:solidFill>
                <a:latin typeface="Calibri" pitchFamily="34" charset="0"/>
                <a:ea typeface="Calibri" pitchFamily="34" charset="-122"/>
                <a:cs typeface="Calibri" pitchFamily="34" charset="-120"/>
              </a:rPr>
              <a:t>Nobody adopted AI to do better sociology. They adopted it to stop doing the routine work — and to get help with tasks that used to require paying someone else.</a:t>
            </a:r>
            <a:endParaRPr lang="en-US" sz="1300" dirty="0"/>
          </a:p>
        </p:txBody>
      </p:sp>
      <p:sp>
        <p:nvSpPr>
          <p:cNvPr id="5" name="Shape 3"/>
          <p:cNvSpPr/>
          <p:nvPr/>
        </p:nvSpPr>
        <p:spPr>
          <a:xfrm>
            <a:off x="502920" y="1865376"/>
            <a:ext cx="4709160" cy="1188720"/>
          </a:xfrm>
          <a:prstGeom prst="roundRect">
            <a:avLst>
              <a:gd name="adj" fmla="val 6154"/>
            </a:avLst>
          </a:prstGeom>
          <a:solidFill>
            <a:srgbClr val="F6F0EE"/>
          </a:solidFill>
          <a:ln w="12700">
            <a:solidFill>
              <a:srgbClr val="F6F0EE"/>
            </a:solidFill>
            <a:prstDash val="solid"/>
          </a:ln>
        </p:spPr>
        <p:txBody>
          <a:bodyPr/>
          <a:lstStyle/>
          <a:p>
            <a:endParaRPr lang="en-US"/>
          </a:p>
        </p:txBody>
      </p:sp>
      <p:sp>
        <p:nvSpPr>
          <p:cNvPr id="6" name="Text 4"/>
          <p:cNvSpPr txBox="1"/>
          <p:nvPr/>
        </p:nvSpPr>
        <p:spPr>
          <a:xfrm>
            <a:off x="685800" y="1975104"/>
            <a:ext cx="4343400" cy="256032"/>
          </a:xfrm>
          <a:prstGeom prst="rect">
            <a:avLst/>
          </a:prstGeom>
          <a:noFill/>
          <a:ln/>
        </p:spPr>
        <p:txBody>
          <a:bodyPr wrap="square" lIns="0" tIns="0" rIns="0" bIns="0" rtlCol="0" anchor="ctr"/>
          <a:lstStyle/>
          <a:p>
            <a:pPr marL="0" indent="0">
              <a:buNone/>
            </a:pPr>
            <a:r>
              <a:rPr lang="en-US" sz="1250" b="1" dirty="0">
                <a:solidFill>
                  <a:srgbClr val="6D2E46"/>
                </a:solidFill>
                <a:latin typeface="Calibri" pitchFamily="34" charset="0"/>
                <a:ea typeface="Calibri" pitchFamily="34" charset="-122"/>
                <a:cs typeface="Calibri" pitchFamily="34" charset="-120"/>
              </a:rPr>
              <a:t>The three most common tasks</a:t>
            </a:r>
            <a:endParaRPr lang="en-US" sz="1250" dirty="0"/>
          </a:p>
        </p:txBody>
      </p:sp>
      <p:sp>
        <p:nvSpPr>
          <p:cNvPr id="7" name="Text 5"/>
          <p:cNvSpPr txBox="1"/>
          <p:nvPr/>
        </p:nvSpPr>
        <p:spPr>
          <a:xfrm>
            <a:off x="685800" y="2267712"/>
            <a:ext cx="4343400" cy="274320"/>
          </a:xfrm>
          <a:prstGeom prst="rect">
            <a:avLst/>
          </a:prstGeom>
          <a:noFill/>
          <a:ln/>
        </p:spPr>
        <p:txBody>
          <a:bodyPr wrap="square" lIns="0" tIns="0" rIns="0" bIns="0" rtlCol="0" anchor="ctr"/>
          <a:lstStyle/>
          <a:p>
            <a:pPr marL="0" indent="0">
              <a:buNone/>
            </a:pPr>
            <a:r>
              <a:rPr lang="en-US" sz="1250" dirty="0">
                <a:solidFill>
                  <a:srgbClr val="2B2124"/>
                </a:solidFill>
                <a:latin typeface="Calibri" pitchFamily="34" charset="0"/>
                <a:ea typeface="Calibri" pitchFamily="34" charset="-122"/>
                <a:cs typeface="Calibri" pitchFamily="34" charset="-120"/>
              </a:rPr>
              <a:t>Searching for sources and literature   ·   Translation   ·   Editing</a:t>
            </a:r>
            <a:endParaRPr lang="en-US" sz="1250" dirty="0"/>
          </a:p>
        </p:txBody>
      </p:sp>
      <p:sp>
        <p:nvSpPr>
          <p:cNvPr id="8" name="Text 6"/>
          <p:cNvSpPr txBox="1"/>
          <p:nvPr/>
        </p:nvSpPr>
        <p:spPr>
          <a:xfrm>
            <a:off x="685800" y="2578608"/>
            <a:ext cx="4343400" cy="329184"/>
          </a:xfrm>
          <a:prstGeom prst="rect">
            <a:avLst/>
          </a:prstGeom>
          <a:noFill/>
          <a:ln/>
        </p:spPr>
        <p:txBody>
          <a:bodyPr wrap="square" lIns="0" tIns="0" rIns="0" bIns="0" rtlCol="0" anchor="t"/>
          <a:lstStyle/>
          <a:p>
            <a:pPr marL="0" indent="0">
              <a:buNone/>
            </a:pPr>
            <a:r>
              <a:rPr lang="en-US" sz="1150" i="1" dirty="0">
                <a:solidFill>
                  <a:srgbClr val="7A6B6E"/>
                </a:solidFill>
                <a:latin typeface="Calibri" pitchFamily="34" charset="0"/>
                <a:ea typeface="Calibri" pitchFamily="34" charset="-122"/>
                <a:cs typeface="Calibri" pitchFamily="34" charset="-120"/>
              </a:rPr>
              <a:t>Plus the “invisible work”: e-mails, administrative summaries, anything tedious.</a:t>
            </a:r>
            <a:endParaRPr lang="en-US" sz="1150" dirty="0"/>
          </a:p>
        </p:txBody>
      </p:sp>
      <p:sp>
        <p:nvSpPr>
          <p:cNvPr id="9" name="Text 7"/>
          <p:cNvSpPr txBox="1"/>
          <p:nvPr/>
        </p:nvSpPr>
        <p:spPr>
          <a:xfrm>
            <a:off x="502920" y="3145536"/>
            <a:ext cx="457200" cy="548640"/>
          </a:xfrm>
          <a:prstGeom prst="rect">
            <a:avLst/>
          </a:prstGeom>
          <a:noFill/>
          <a:ln/>
        </p:spPr>
        <p:txBody>
          <a:bodyPr wrap="square" lIns="0" tIns="0" rIns="0" bIns="0" rtlCol="0" anchor="ctr"/>
          <a:lstStyle/>
          <a:p>
            <a:pPr marL="0" indent="0">
              <a:buNone/>
            </a:pPr>
            <a:r>
              <a:rPr lang="en-US" sz="4800" b="1" dirty="0">
                <a:solidFill>
                  <a:srgbClr val="A26769"/>
                </a:solidFill>
                <a:latin typeface="Cambria" pitchFamily="34" charset="0"/>
                <a:ea typeface="Cambria" pitchFamily="34" charset="-122"/>
                <a:cs typeface="Cambria" pitchFamily="34" charset="-120"/>
              </a:rPr>
              <a:t>“</a:t>
            </a:r>
            <a:endParaRPr lang="en-US" sz="4800" dirty="0"/>
          </a:p>
        </p:txBody>
      </p:sp>
      <p:sp>
        <p:nvSpPr>
          <p:cNvPr id="10" name="Text 8"/>
          <p:cNvSpPr txBox="1"/>
          <p:nvPr/>
        </p:nvSpPr>
        <p:spPr>
          <a:xfrm>
            <a:off x="905256" y="3291840"/>
            <a:ext cx="4306824" cy="786384"/>
          </a:xfrm>
          <a:prstGeom prst="rect">
            <a:avLst/>
          </a:prstGeom>
          <a:noFill/>
          <a:ln/>
        </p:spPr>
        <p:txBody>
          <a:bodyPr wrap="square" lIns="0" tIns="0" rIns="0" bIns="0" rtlCol="0" anchor="t"/>
          <a:lstStyle/>
          <a:p>
            <a:pPr marL="0" indent="0">
              <a:lnSpc>
                <a:spcPct val="114000"/>
              </a:lnSpc>
              <a:buNone/>
            </a:pPr>
            <a:r>
              <a:rPr lang="en-US" sz="1200" i="1" dirty="0">
                <a:solidFill>
                  <a:srgbClr val="2B2124"/>
                </a:solidFill>
                <a:latin typeface="Cambria" pitchFamily="34" charset="0"/>
                <a:ea typeface="Cambria" pitchFamily="34" charset="-122"/>
                <a:cs typeface="Cambria" pitchFamily="34" charset="-120"/>
              </a:rPr>
              <a:t>If you are entirely lost and do not know what to write or what to do, AI can help in brainstorming and suggest ideas, though they may be presented in a standard bulleted list form.</a:t>
            </a:r>
            <a:endParaRPr lang="en-US" sz="1200" dirty="0"/>
          </a:p>
        </p:txBody>
      </p:sp>
      <p:sp>
        <p:nvSpPr>
          <p:cNvPr id="11" name="Text 9"/>
          <p:cNvSpPr txBox="1"/>
          <p:nvPr/>
        </p:nvSpPr>
        <p:spPr>
          <a:xfrm>
            <a:off x="905256" y="4096512"/>
            <a:ext cx="4306824" cy="219456"/>
          </a:xfrm>
          <a:prstGeom prst="rect">
            <a:avLst/>
          </a:prstGeom>
          <a:noFill/>
          <a:ln/>
        </p:spPr>
        <p:txBody>
          <a:bodyPr wrap="square" lIns="0" tIns="0" rIns="0" bIns="0" rtlCol="0" anchor="ctr"/>
          <a:lstStyle/>
          <a:p>
            <a:pPr marL="0" indent="0">
              <a:buNone/>
            </a:pPr>
            <a:r>
              <a:rPr lang="en-US" sz="1050" b="1" dirty="0">
                <a:solidFill>
                  <a:srgbClr val="A26769"/>
                </a:solidFill>
                <a:latin typeface="Calibri" pitchFamily="34" charset="0"/>
                <a:ea typeface="Calibri" pitchFamily="34" charset="-122"/>
                <a:cs typeface="Calibri" pitchFamily="34" charset="-120"/>
              </a:rPr>
              <a:t>— R10</a:t>
            </a:r>
            <a:endParaRPr lang="en-US" sz="1050" dirty="0"/>
          </a:p>
        </p:txBody>
      </p:sp>
      <p:sp>
        <p:nvSpPr>
          <p:cNvPr id="12" name="Shape 10"/>
          <p:cNvSpPr/>
          <p:nvPr/>
        </p:nvSpPr>
        <p:spPr>
          <a:xfrm>
            <a:off x="5532120" y="1170432"/>
            <a:ext cx="3108960" cy="1298448"/>
          </a:xfrm>
          <a:prstGeom prst="roundRect">
            <a:avLst>
              <a:gd name="adj" fmla="val 5634"/>
            </a:avLst>
          </a:prstGeom>
          <a:solidFill>
            <a:srgbClr val="F6F0EE"/>
          </a:solidFill>
          <a:ln w="12700">
            <a:solidFill>
              <a:srgbClr val="F6F0EE"/>
            </a:solidFill>
            <a:prstDash val="solid"/>
          </a:ln>
        </p:spPr>
        <p:txBody>
          <a:bodyPr/>
          <a:lstStyle/>
          <a:p>
            <a:endParaRPr lang="en-US"/>
          </a:p>
        </p:txBody>
      </p:sp>
      <p:sp>
        <p:nvSpPr>
          <p:cNvPr id="13" name="Text 11"/>
          <p:cNvSpPr txBox="1"/>
          <p:nvPr/>
        </p:nvSpPr>
        <p:spPr>
          <a:xfrm>
            <a:off x="5696712" y="1316736"/>
            <a:ext cx="2779776" cy="603504"/>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14</a:t>
            </a:r>
            <a:endParaRPr lang="en-US" sz="3200" dirty="0"/>
          </a:p>
        </p:txBody>
      </p:sp>
      <p:sp>
        <p:nvSpPr>
          <p:cNvPr id="14" name="Text 12"/>
          <p:cNvSpPr txBox="1"/>
          <p:nvPr/>
        </p:nvSpPr>
        <p:spPr>
          <a:xfrm>
            <a:off x="5696712" y="1920240"/>
            <a:ext cx="2779776" cy="402336"/>
          </a:xfrm>
          <a:prstGeom prst="rect">
            <a:avLst/>
          </a:prstGeom>
          <a:noFill/>
          <a:ln/>
        </p:spPr>
        <p:txBody>
          <a:bodyPr wrap="square" lIns="0" tIns="0" rIns="0" bIns="0" rtlCol="0" anchor="t"/>
          <a:lstStyle/>
          <a:p>
            <a:pPr marL="0" indent="0">
              <a:lnSpc>
                <a:spcPct val="108000"/>
              </a:lnSpc>
              <a:buNone/>
            </a:pPr>
            <a:r>
              <a:rPr lang="en-US" sz="1100" dirty="0">
                <a:solidFill>
                  <a:srgbClr val="7A6B6E"/>
                </a:solidFill>
                <a:latin typeface="Calibri" pitchFamily="34" charset="0"/>
                <a:ea typeface="Calibri" pitchFamily="34" charset="-122"/>
                <a:cs typeface="Calibri" pitchFamily="34" charset="-120"/>
              </a:rPr>
              <a:t>AI tools named — ChatGPT and DeepL through Elicit, Litmaps and a self-built assistant</a:t>
            </a:r>
            <a:endParaRPr lang="en-US" sz="1100" dirty="0"/>
          </a:p>
        </p:txBody>
      </p:sp>
      <p:sp>
        <p:nvSpPr>
          <p:cNvPr id="15" name="Shape 13"/>
          <p:cNvSpPr/>
          <p:nvPr/>
        </p:nvSpPr>
        <p:spPr>
          <a:xfrm>
            <a:off x="5532120" y="2560320"/>
            <a:ext cx="3108960" cy="969264"/>
          </a:xfrm>
          <a:prstGeom prst="roundRect">
            <a:avLst>
              <a:gd name="adj" fmla="val 7547"/>
            </a:avLst>
          </a:prstGeom>
          <a:solidFill>
            <a:srgbClr val="F6F0EE"/>
          </a:solidFill>
          <a:ln w="12700">
            <a:solidFill>
              <a:srgbClr val="F6F0EE"/>
            </a:solidFill>
            <a:prstDash val="solid"/>
          </a:ln>
        </p:spPr>
        <p:txBody>
          <a:bodyPr/>
          <a:lstStyle/>
          <a:p>
            <a:endParaRPr lang="en-US"/>
          </a:p>
        </p:txBody>
      </p:sp>
      <p:sp>
        <p:nvSpPr>
          <p:cNvPr id="16" name="Text 14"/>
          <p:cNvSpPr txBox="1"/>
          <p:nvPr/>
        </p:nvSpPr>
        <p:spPr>
          <a:xfrm>
            <a:off x="5696712" y="2706624"/>
            <a:ext cx="2779776" cy="603504"/>
          </a:xfrm>
          <a:prstGeom prst="rect">
            <a:avLst/>
          </a:prstGeom>
          <a:noFill/>
          <a:ln/>
        </p:spPr>
        <p:txBody>
          <a:bodyPr wrap="square" lIns="0" tIns="0" rIns="0" bIns="0" rtlCol="0" anchor="ctr"/>
          <a:lstStyle/>
          <a:p>
            <a:pPr marL="0" indent="0">
              <a:buNone/>
            </a:pPr>
            <a:r>
              <a:rPr lang="en-US" sz="3200" b="1" dirty="0">
                <a:solidFill>
                  <a:srgbClr val="6D2E46"/>
                </a:solidFill>
                <a:latin typeface="Cambria" pitchFamily="34" charset="0"/>
                <a:ea typeface="Cambria" pitchFamily="34" charset="-122"/>
                <a:cs typeface="Cambria" pitchFamily="34" charset="-120"/>
              </a:rPr>
              <a:t>1–3</a:t>
            </a:r>
            <a:endParaRPr lang="en-US" sz="3200" dirty="0"/>
          </a:p>
        </p:txBody>
      </p:sp>
      <p:sp>
        <p:nvSpPr>
          <p:cNvPr id="17" name="Text 15"/>
          <p:cNvSpPr txBox="1"/>
          <p:nvPr/>
        </p:nvSpPr>
        <p:spPr>
          <a:xfrm>
            <a:off x="5696712" y="3310128"/>
            <a:ext cx="2779776" cy="73152"/>
          </a:xfrm>
          <a:prstGeom prst="rect">
            <a:avLst/>
          </a:prstGeom>
          <a:noFill/>
          <a:ln/>
        </p:spPr>
        <p:txBody>
          <a:bodyPr wrap="square" lIns="0" tIns="0" rIns="0" bIns="0" rtlCol="0" anchor="t"/>
          <a:lstStyle/>
          <a:p>
            <a:pPr marL="0" indent="0">
              <a:lnSpc>
                <a:spcPct val="108000"/>
              </a:lnSpc>
              <a:buNone/>
            </a:pPr>
            <a:r>
              <a:rPr lang="en-US" sz="1100" dirty="0">
                <a:solidFill>
                  <a:srgbClr val="7A6B6E"/>
                </a:solidFill>
                <a:latin typeface="Calibri" pitchFamily="34" charset="0"/>
                <a:ea typeface="Calibri" pitchFamily="34" charset="-122"/>
                <a:cs typeface="Calibri" pitchFamily="34" charset="-120"/>
              </a:rPr>
              <a:t>tools most respondents use regularly</a:t>
            </a:r>
            <a:endParaRPr lang="en-US" sz="1100" dirty="0"/>
          </a:p>
        </p:txBody>
      </p:sp>
      <p:sp>
        <p:nvSpPr>
          <p:cNvPr id="18" name="Shape 16"/>
          <p:cNvSpPr/>
          <p:nvPr/>
        </p:nvSpPr>
        <p:spPr>
          <a:xfrm>
            <a:off x="5532120" y="3621024"/>
            <a:ext cx="3108960" cy="950976"/>
          </a:xfrm>
          <a:prstGeom prst="roundRect">
            <a:avLst>
              <a:gd name="adj" fmla="val 7692"/>
            </a:avLst>
          </a:prstGeom>
          <a:solidFill>
            <a:srgbClr val="6D2E46"/>
          </a:solidFill>
          <a:ln w="12700">
            <a:solidFill>
              <a:srgbClr val="6D2E46"/>
            </a:solidFill>
            <a:prstDash val="solid"/>
          </a:ln>
        </p:spPr>
        <p:txBody>
          <a:bodyPr/>
          <a:lstStyle/>
          <a:p>
            <a:endParaRPr lang="en-US"/>
          </a:p>
        </p:txBody>
      </p:sp>
      <p:sp>
        <p:nvSpPr>
          <p:cNvPr id="19" name="Text 17"/>
          <p:cNvSpPr txBox="1"/>
          <p:nvPr/>
        </p:nvSpPr>
        <p:spPr>
          <a:xfrm>
            <a:off x="5696712" y="3767328"/>
            <a:ext cx="2779776" cy="603504"/>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 of 13</a:t>
            </a:r>
            <a:endParaRPr lang="en-US" sz="3000" dirty="0"/>
          </a:p>
        </p:txBody>
      </p:sp>
      <p:sp>
        <p:nvSpPr>
          <p:cNvPr id="20" name="Text 18"/>
          <p:cNvSpPr txBox="1"/>
          <p:nvPr/>
        </p:nvSpPr>
        <p:spPr>
          <a:xfrm>
            <a:off x="5696712" y="4370832"/>
            <a:ext cx="2779776" cy="54864"/>
          </a:xfrm>
          <a:prstGeom prst="rect">
            <a:avLst/>
          </a:prstGeom>
          <a:noFill/>
          <a:ln/>
        </p:spPr>
        <p:txBody>
          <a:bodyPr wrap="square" lIns="0" tIns="0" rIns="0" bIns="0" rtlCol="0" anchor="t"/>
          <a:lstStyle/>
          <a:p>
            <a:pPr marL="0" indent="0">
              <a:lnSpc>
                <a:spcPct val="108000"/>
              </a:lnSpc>
              <a:buNone/>
            </a:pPr>
            <a:r>
              <a:rPr lang="en-US" sz="1100" dirty="0">
                <a:solidFill>
                  <a:srgbClr val="E8D8DC"/>
                </a:solidFill>
                <a:latin typeface="Calibri" pitchFamily="34" charset="0"/>
                <a:ea typeface="Calibri" pitchFamily="34" charset="-122"/>
                <a:cs typeface="Calibri" pitchFamily="34" charset="-120"/>
              </a:rPr>
              <a:t>had never used AI for work at all</a:t>
            </a:r>
            <a:endParaRPr lang="en-US" sz="1100" dirty="0"/>
          </a:p>
        </p:txBody>
      </p:sp>
      <p:sp>
        <p:nvSpPr>
          <p:cNvPr id="21" name="Text 19"/>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Motives for using generative AI; Generative AI as a research tool, pp. 8–9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FINDING 2</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“An inexperienced research assistant”</a:t>
            </a:r>
            <a:endParaRPr lang="en-US" sz="3100" dirty="0"/>
          </a:p>
        </p:txBody>
      </p:sp>
      <p:sp>
        <p:nvSpPr>
          <p:cNvPr id="4" name="Text 2"/>
          <p:cNvSpPr txBox="1"/>
          <p:nvPr/>
        </p:nvSpPr>
        <p:spPr>
          <a:xfrm>
            <a:off x="502920" y="1042416"/>
            <a:ext cx="457200" cy="548640"/>
          </a:xfrm>
          <a:prstGeom prst="rect">
            <a:avLst/>
          </a:prstGeom>
          <a:noFill/>
          <a:ln/>
        </p:spPr>
        <p:txBody>
          <a:bodyPr wrap="square" lIns="0" tIns="0" rIns="0" bIns="0" rtlCol="0" anchor="ctr"/>
          <a:lstStyle/>
          <a:p>
            <a:pPr marL="0" indent="0">
              <a:buNone/>
            </a:pPr>
            <a:r>
              <a:rPr lang="en-US" sz="4800" b="1" dirty="0">
                <a:solidFill>
                  <a:srgbClr val="A26769"/>
                </a:solidFill>
                <a:latin typeface="Cambria" pitchFamily="34" charset="0"/>
                <a:ea typeface="Cambria" pitchFamily="34" charset="-122"/>
                <a:cs typeface="Cambria" pitchFamily="34" charset="-120"/>
              </a:rPr>
              <a:t>“</a:t>
            </a:r>
            <a:endParaRPr lang="en-US" sz="4800" dirty="0"/>
          </a:p>
        </p:txBody>
      </p:sp>
      <p:sp>
        <p:nvSpPr>
          <p:cNvPr id="5" name="Text 3"/>
          <p:cNvSpPr txBox="1"/>
          <p:nvPr/>
        </p:nvSpPr>
        <p:spPr>
          <a:xfrm>
            <a:off x="905256" y="1188720"/>
            <a:ext cx="4261104" cy="969264"/>
          </a:xfrm>
          <a:prstGeom prst="rect">
            <a:avLst/>
          </a:prstGeom>
          <a:noFill/>
          <a:ln/>
        </p:spPr>
        <p:txBody>
          <a:bodyPr wrap="square" lIns="0" tIns="0" rIns="0" bIns="0" rtlCol="0" anchor="t"/>
          <a:lstStyle/>
          <a:p>
            <a:pPr marL="0" indent="0">
              <a:lnSpc>
                <a:spcPct val="114000"/>
              </a:lnSpc>
              <a:buNone/>
            </a:pPr>
            <a:r>
              <a:rPr lang="en-US" sz="1400" i="1" dirty="0">
                <a:solidFill>
                  <a:srgbClr val="2B2124"/>
                </a:solidFill>
                <a:latin typeface="Cambria" pitchFamily="34" charset="0"/>
                <a:ea typeface="Cambria" pitchFamily="34" charset="-122"/>
                <a:cs typeface="Cambria" pitchFamily="34" charset="-120"/>
              </a:rPr>
              <a:t>It's like really as a helper, like a very lowly research assistant, inexperienced research assistant, to do tasks that I really don't have the time to do.</a:t>
            </a:r>
            <a:endParaRPr lang="en-US" sz="1400" dirty="0"/>
          </a:p>
        </p:txBody>
      </p:sp>
      <p:sp>
        <p:nvSpPr>
          <p:cNvPr id="6" name="Text 4"/>
          <p:cNvSpPr txBox="1"/>
          <p:nvPr/>
        </p:nvSpPr>
        <p:spPr>
          <a:xfrm>
            <a:off x="905256" y="2176272"/>
            <a:ext cx="4261104" cy="219456"/>
          </a:xfrm>
          <a:prstGeom prst="rect">
            <a:avLst/>
          </a:prstGeom>
          <a:noFill/>
          <a:ln/>
        </p:spPr>
        <p:txBody>
          <a:bodyPr wrap="square" lIns="0" tIns="0" rIns="0" bIns="0" rtlCol="0" anchor="ctr"/>
          <a:lstStyle/>
          <a:p>
            <a:pPr marL="0" indent="0">
              <a:buNone/>
            </a:pPr>
            <a:r>
              <a:rPr lang="en-US" sz="1050" b="1" dirty="0">
                <a:solidFill>
                  <a:srgbClr val="A26769"/>
                </a:solidFill>
                <a:latin typeface="Calibri" pitchFamily="34" charset="0"/>
                <a:ea typeface="Calibri" pitchFamily="34" charset="-122"/>
                <a:cs typeface="Calibri" pitchFamily="34" charset="-120"/>
              </a:rPr>
              <a:t>— R7</a:t>
            </a:r>
            <a:endParaRPr lang="en-US" sz="1050" dirty="0"/>
          </a:p>
        </p:txBody>
      </p:sp>
      <p:sp>
        <p:nvSpPr>
          <p:cNvPr id="7" name="Text 5"/>
          <p:cNvSpPr txBox="1"/>
          <p:nvPr/>
        </p:nvSpPr>
        <p:spPr>
          <a:xfrm>
            <a:off x="502920" y="2523744"/>
            <a:ext cx="457200" cy="548640"/>
          </a:xfrm>
          <a:prstGeom prst="rect">
            <a:avLst/>
          </a:prstGeom>
          <a:noFill/>
          <a:ln/>
        </p:spPr>
        <p:txBody>
          <a:bodyPr wrap="square" lIns="0" tIns="0" rIns="0" bIns="0" rtlCol="0" anchor="ctr"/>
          <a:lstStyle/>
          <a:p>
            <a:pPr marL="0" indent="0">
              <a:buNone/>
            </a:pPr>
            <a:r>
              <a:rPr lang="en-US" sz="4800" b="1" dirty="0">
                <a:solidFill>
                  <a:srgbClr val="A26769"/>
                </a:solidFill>
                <a:latin typeface="Cambria" pitchFamily="34" charset="0"/>
                <a:ea typeface="Cambria" pitchFamily="34" charset="-122"/>
                <a:cs typeface="Cambria" pitchFamily="34" charset="-120"/>
              </a:rPr>
              <a:t>“</a:t>
            </a:r>
            <a:endParaRPr lang="en-US" sz="4800" dirty="0"/>
          </a:p>
        </p:txBody>
      </p:sp>
      <p:sp>
        <p:nvSpPr>
          <p:cNvPr id="8" name="Text 6"/>
          <p:cNvSpPr txBox="1"/>
          <p:nvPr/>
        </p:nvSpPr>
        <p:spPr>
          <a:xfrm>
            <a:off x="905256" y="2670048"/>
            <a:ext cx="4261104" cy="548640"/>
          </a:xfrm>
          <a:prstGeom prst="rect">
            <a:avLst/>
          </a:prstGeom>
          <a:noFill/>
          <a:ln/>
        </p:spPr>
        <p:txBody>
          <a:bodyPr wrap="square" lIns="0" tIns="0" rIns="0" bIns="0" rtlCol="0" anchor="t"/>
          <a:lstStyle/>
          <a:p>
            <a:pPr marL="0" indent="0">
              <a:lnSpc>
                <a:spcPct val="114000"/>
              </a:lnSpc>
              <a:buNone/>
            </a:pPr>
            <a:r>
              <a:rPr lang="en-US" sz="1400" i="1" dirty="0">
                <a:solidFill>
                  <a:srgbClr val="2B2124"/>
                </a:solidFill>
                <a:latin typeface="Cambria" pitchFamily="34" charset="0"/>
                <a:ea typeface="Cambria" pitchFamily="34" charset="-122"/>
                <a:cs typeface="Cambria" pitchFamily="34" charset="-120"/>
              </a:rPr>
              <a:t>I am training my scientist, i.e., digital twin. My trained twin can advise me.</a:t>
            </a:r>
            <a:endParaRPr lang="en-US" sz="1400" dirty="0"/>
          </a:p>
        </p:txBody>
      </p:sp>
      <p:sp>
        <p:nvSpPr>
          <p:cNvPr id="9" name="Text 7"/>
          <p:cNvSpPr txBox="1"/>
          <p:nvPr/>
        </p:nvSpPr>
        <p:spPr>
          <a:xfrm>
            <a:off x="905256" y="3236976"/>
            <a:ext cx="4261104" cy="219456"/>
          </a:xfrm>
          <a:prstGeom prst="rect">
            <a:avLst/>
          </a:prstGeom>
          <a:noFill/>
          <a:ln/>
        </p:spPr>
        <p:txBody>
          <a:bodyPr wrap="square" lIns="0" tIns="0" rIns="0" bIns="0" rtlCol="0" anchor="ctr"/>
          <a:lstStyle/>
          <a:p>
            <a:pPr marL="0" indent="0">
              <a:buNone/>
            </a:pPr>
            <a:r>
              <a:rPr lang="en-US" sz="1050" b="1" dirty="0">
                <a:solidFill>
                  <a:srgbClr val="A26769"/>
                </a:solidFill>
                <a:latin typeface="Calibri" pitchFamily="34" charset="0"/>
                <a:ea typeface="Calibri" pitchFamily="34" charset="-122"/>
                <a:cs typeface="Calibri" pitchFamily="34" charset="-120"/>
              </a:rPr>
              <a:t>— R3</a:t>
            </a:r>
            <a:endParaRPr lang="en-US" sz="1050" dirty="0"/>
          </a:p>
        </p:txBody>
      </p:sp>
      <p:sp>
        <p:nvSpPr>
          <p:cNvPr id="10" name="Text 8"/>
          <p:cNvSpPr txBox="1"/>
          <p:nvPr/>
        </p:nvSpPr>
        <p:spPr>
          <a:xfrm>
            <a:off x="502920" y="3675888"/>
            <a:ext cx="4663440" cy="548640"/>
          </a:xfrm>
          <a:prstGeom prst="rect">
            <a:avLst/>
          </a:prstGeom>
          <a:noFill/>
          <a:ln/>
        </p:spPr>
        <p:txBody>
          <a:bodyPr wrap="square" lIns="0" tIns="0" rIns="0" bIns="0" rtlCol="0" anchor="t"/>
          <a:lstStyle/>
          <a:p>
            <a:pPr marL="0" indent="0">
              <a:lnSpc>
                <a:spcPct val="112000"/>
              </a:lnSpc>
              <a:buNone/>
            </a:pPr>
            <a:r>
              <a:rPr lang="en-US" sz="1200" i="1" dirty="0">
                <a:solidFill>
                  <a:srgbClr val="7A6B6E"/>
                </a:solidFill>
                <a:latin typeface="Calibri" pitchFamily="34" charset="0"/>
                <a:ea typeface="Calibri" pitchFamily="34" charset="-122"/>
                <a:cs typeface="Calibri" pitchFamily="34" charset="-120"/>
              </a:rPr>
              <a:t>Used at the front of the pipeline — initial search, first pass — then validated independently.</a:t>
            </a:r>
            <a:endParaRPr lang="en-US" sz="1200" dirty="0"/>
          </a:p>
        </p:txBody>
      </p:sp>
      <p:sp>
        <p:nvSpPr>
          <p:cNvPr id="11" name="Shape 9"/>
          <p:cNvSpPr/>
          <p:nvPr/>
        </p:nvSpPr>
        <p:spPr>
          <a:xfrm>
            <a:off x="5486400" y="1188720"/>
            <a:ext cx="3154680" cy="3017520"/>
          </a:xfrm>
          <a:prstGeom prst="roundRect">
            <a:avLst>
              <a:gd name="adj" fmla="val 2424"/>
            </a:avLst>
          </a:prstGeom>
          <a:solidFill>
            <a:srgbClr val="F6F0EE"/>
          </a:solidFill>
          <a:ln w="12700">
            <a:solidFill>
              <a:srgbClr val="F6F0EE"/>
            </a:solidFill>
            <a:prstDash val="solid"/>
          </a:ln>
        </p:spPr>
        <p:txBody>
          <a:bodyPr/>
          <a:lstStyle/>
          <a:p>
            <a:endParaRPr lang="en-US"/>
          </a:p>
        </p:txBody>
      </p:sp>
      <p:sp>
        <p:nvSpPr>
          <p:cNvPr id="12" name="Text 10"/>
          <p:cNvSpPr txBox="1"/>
          <p:nvPr/>
        </p:nvSpPr>
        <p:spPr>
          <a:xfrm>
            <a:off x="5669280" y="1316736"/>
            <a:ext cx="2788920" cy="274320"/>
          </a:xfrm>
          <a:prstGeom prst="rect">
            <a:avLst/>
          </a:prstGeom>
          <a:noFill/>
          <a:ln/>
        </p:spPr>
        <p:txBody>
          <a:bodyPr wrap="square" lIns="0" tIns="0" rIns="0" bIns="0"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Where it breaks down</a:t>
            </a:r>
            <a:endParaRPr lang="en-US" sz="1300" dirty="0"/>
          </a:p>
        </p:txBody>
      </p:sp>
      <p:sp>
        <p:nvSpPr>
          <p:cNvPr id="13" name="Text 11"/>
          <p:cNvSpPr txBox="1"/>
          <p:nvPr/>
        </p:nvSpPr>
        <p:spPr>
          <a:xfrm>
            <a:off x="5669280" y="1664208"/>
            <a:ext cx="2788920" cy="2377440"/>
          </a:xfrm>
          <a:prstGeom prst="rect">
            <a:avLst/>
          </a:prstGeom>
          <a:noFill/>
          <a:ln/>
        </p:spPr>
        <p:txBody>
          <a:bodyPr wrap="square" lIns="0" tIns="0" rIns="0" bIns="0" rtlCol="0" anchor="t"/>
          <a:lstStyle/>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No originality — “all abstracts follow the same pattern”</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Strips the context that content and documentary analysis depend on</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No feel for the emotional dimension of social research</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Hallucinated, uncited sources</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SPSS, not AI, is still the primary working tool</a:t>
            </a:r>
            <a:endParaRPr lang="en-US" sz="1150" dirty="0"/>
          </a:p>
        </p:txBody>
      </p:sp>
      <p:sp>
        <p:nvSpPr>
          <p:cNvPr id="14" name="Text 12"/>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Generative AI as a research tool, pp. 9–10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FINDING 3</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Rules exist. Awareness of them doesn't.</a:t>
            </a:r>
            <a:endParaRPr lang="en-US" sz="3100" dirty="0"/>
          </a:p>
        </p:txBody>
      </p:sp>
      <p:sp>
        <p:nvSpPr>
          <p:cNvPr id="4" name="Text 2"/>
          <p:cNvSpPr txBox="1"/>
          <p:nvPr/>
        </p:nvSpPr>
        <p:spPr>
          <a:xfrm>
            <a:off x="502920" y="1188720"/>
            <a:ext cx="4709160" cy="1737360"/>
          </a:xfrm>
          <a:prstGeom prst="rect">
            <a:avLst/>
          </a:prstGeom>
          <a:noFill/>
          <a:ln/>
        </p:spPr>
        <p:txBody>
          <a:bodyPr wrap="square" lIns="0" tIns="0" rIns="0" bIns="0" rtlCol="0" anchor="t"/>
          <a:lstStyle/>
          <a:p>
            <a:pPr marL="0" indent="0">
              <a:lnSpc>
                <a:spcPct val="116000"/>
              </a:lnSpc>
              <a:buNone/>
            </a:pPr>
            <a:r>
              <a:rPr lang="en-US" sz="1250" dirty="0">
                <a:solidFill>
                  <a:srgbClr val="2B2124"/>
                </a:solidFill>
                <a:latin typeface="Calibri" pitchFamily="34" charset="0"/>
                <a:ea typeface="Calibri" pitchFamily="34" charset="-122"/>
                <a:cs typeface="Calibri" pitchFamily="34" charset="-120"/>
              </a:rPr>
              <a:t>Vilnius University's Senate approved AI usage guidelines on 18 June 2024 — but they address education. For research they say little beyond “follow academic ethics and publishers' rules.”</a:t>
            </a:r>
            <a:endParaRPr lang="en-US" sz="1250" dirty="0"/>
          </a:p>
          <a:p>
            <a:pPr marL="0" indent="0">
              <a:lnSpc>
                <a:spcPct val="116000"/>
              </a:lnSpc>
              <a:buNone/>
            </a:pPr>
            <a:endParaRPr lang="en-US" sz="1250" dirty="0"/>
          </a:p>
          <a:p>
            <a:pPr marL="0" indent="0">
              <a:lnSpc>
                <a:spcPct val="116000"/>
              </a:lnSpc>
              <a:buNone/>
            </a:pPr>
            <a:r>
              <a:rPr lang="en-US" sz="1250" dirty="0">
                <a:solidFill>
                  <a:srgbClr val="2B2124"/>
                </a:solidFill>
                <a:latin typeface="Calibri" pitchFamily="34" charset="0"/>
                <a:ea typeface="Calibri" pitchFamily="34" charset="-122"/>
                <a:cs typeface="Calibri" pitchFamily="34" charset="-120"/>
              </a:rPr>
              <a:t>Respondents did not know the guidelines existed. All the same, every respondent said AI use should meet the same ethical standards as any research.</a:t>
            </a:r>
            <a:endParaRPr lang="en-US" sz="1250" dirty="0"/>
          </a:p>
        </p:txBody>
      </p:sp>
      <p:sp>
        <p:nvSpPr>
          <p:cNvPr id="5" name="Text 3"/>
          <p:cNvSpPr txBox="1"/>
          <p:nvPr/>
        </p:nvSpPr>
        <p:spPr>
          <a:xfrm>
            <a:off x="502920" y="2962656"/>
            <a:ext cx="457200" cy="548640"/>
          </a:xfrm>
          <a:prstGeom prst="rect">
            <a:avLst/>
          </a:prstGeom>
          <a:noFill/>
          <a:ln/>
        </p:spPr>
        <p:txBody>
          <a:bodyPr wrap="square" lIns="0" tIns="0" rIns="0" bIns="0" rtlCol="0" anchor="ctr"/>
          <a:lstStyle/>
          <a:p>
            <a:pPr marL="0" indent="0">
              <a:buNone/>
            </a:pPr>
            <a:r>
              <a:rPr lang="en-US" sz="4800" b="1" dirty="0">
                <a:solidFill>
                  <a:srgbClr val="A26769"/>
                </a:solidFill>
                <a:latin typeface="Cambria" pitchFamily="34" charset="0"/>
                <a:ea typeface="Cambria" pitchFamily="34" charset="-122"/>
                <a:cs typeface="Cambria" pitchFamily="34" charset="-120"/>
              </a:rPr>
              <a:t>“</a:t>
            </a:r>
            <a:endParaRPr lang="en-US" sz="4800" dirty="0"/>
          </a:p>
        </p:txBody>
      </p:sp>
      <p:sp>
        <p:nvSpPr>
          <p:cNvPr id="6" name="Text 4"/>
          <p:cNvSpPr txBox="1"/>
          <p:nvPr/>
        </p:nvSpPr>
        <p:spPr>
          <a:xfrm>
            <a:off x="905256" y="3108960"/>
            <a:ext cx="4306824" cy="768096"/>
          </a:xfrm>
          <a:prstGeom prst="rect">
            <a:avLst/>
          </a:prstGeom>
          <a:noFill/>
          <a:ln/>
        </p:spPr>
        <p:txBody>
          <a:bodyPr wrap="square" lIns="0" tIns="0" rIns="0" bIns="0" rtlCol="0" anchor="t"/>
          <a:lstStyle/>
          <a:p>
            <a:pPr marL="0" indent="0">
              <a:lnSpc>
                <a:spcPct val="114000"/>
              </a:lnSpc>
              <a:buNone/>
            </a:pPr>
            <a:r>
              <a:rPr lang="en-US" sz="1200" i="1" dirty="0">
                <a:solidFill>
                  <a:srgbClr val="2B2124"/>
                </a:solidFill>
                <a:latin typeface="Cambria" pitchFamily="34" charset="0"/>
                <a:ea typeface="Cambria" pitchFamily="34" charset="-122"/>
                <a:cs typeface="Cambria" pitchFamily="34" charset="-120"/>
              </a:rPr>
              <a:t>It is unethical to use AI-generated texts because it already plagiarises when presenting text, as the sources it relies upon are not disclosed, not cited, or are hallucinated.</a:t>
            </a:r>
            <a:endParaRPr lang="en-US" sz="1200" dirty="0"/>
          </a:p>
        </p:txBody>
      </p:sp>
      <p:sp>
        <p:nvSpPr>
          <p:cNvPr id="7" name="Text 5"/>
          <p:cNvSpPr txBox="1"/>
          <p:nvPr/>
        </p:nvSpPr>
        <p:spPr>
          <a:xfrm>
            <a:off x="905256" y="3895344"/>
            <a:ext cx="4306824" cy="219456"/>
          </a:xfrm>
          <a:prstGeom prst="rect">
            <a:avLst/>
          </a:prstGeom>
          <a:noFill/>
          <a:ln/>
        </p:spPr>
        <p:txBody>
          <a:bodyPr wrap="square" lIns="0" tIns="0" rIns="0" bIns="0" rtlCol="0" anchor="ctr"/>
          <a:lstStyle/>
          <a:p>
            <a:pPr marL="0" indent="0">
              <a:buNone/>
            </a:pPr>
            <a:r>
              <a:rPr lang="en-US" sz="1050" b="1" dirty="0">
                <a:solidFill>
                  <a:srgbClr val="A26769"/>
                </a:solidFill>
                <a:latin typeface="Calibri" pitchFamily="34" charset="0"/>
                <a:ea typeface="Calibri" pitchFamily="34" charset="-122"/>
                <a:cs typeface="Calibri" pitchFamily="34" charset="-120"/>
              </a:rPr>
              <a:t>— R2</a:t>
            </a:r>
            <a:endParaRPr lang="en-US" sz="1050" dirty="0"/>
          </a:p>
        </p:txBody>
      </p:sp>
      <p:sp>
        <p:nvSpPr>
          <p:cNvPr id="8" name="Shape 6"/>
          <p:cNvSpPr/>
          <p:nvPr/>
        </p:nvSpPr>
        <p:spPr>
          <a:xfrm>
            <a:off x="5532120" y="1188720"/>
            <a:ext cx="3108960" cy="1700784"/>
          </a:xfrm>
          <a:prstGeom prst="roundRect">
            <a:avLst>
              <a:gd name="adj" fmla="val 4301"/>
            </a:avLst>
          </a:prstGeom>
          <a:solidFill>
            <a:srgbClr val="F6F0EE"/>
          </a:solidFill>
          <a:ln w="12700">
            <a:solidFill>
              <a:srgbClr val="F6F0EE"/>
            </a:solidFill>
            <a:prstDash val="solid"/>
          </a:ln>
        </p:spPr>
        <p:txBody>
          <a:bodyPr/>
          <a:lstStyle/>
          <a:p>
            <a:endParaRPr lang="en-US"/>
          </a:p>
        </p:txBody>
      </p:sp>
      <p:sp>
        <p:nvSpPr>
          <p:cNvPr id="9" name="Text 7"/>
          <p:cNvSpPr txBox="1"/>
          <p:nvPr/>
        </p:nvSpPr>
        <p:spPr>
          <a:xfrm>
            <a:off x="5715000" y="1316736"/>
            <a:ext cx="2743200" cy="256032"/>
          </a:xfrm>
          <a:prstGeom prst="rect">
            <a:avLst/>
          </a:prstGeom>
          <a:noFill/>
          <a:ln/>
        </p:spPr>
        <p:txBody>
          <a:bodyPr wrap="square" lIns="0" tIns="0" rIns="0" bIns="0" rtlCol="0" anchor="ctr"/>
          <a:lstStyle/>
          <a:p>
            <a:pPr marL="0" indent="0">
              <a:buNone/>
            </a:pPr>
            <a:r>
              <a:rPr lang="en-US" sz="1250" b="1" dirty="0">
                <a:solidFill>
                  <a:srgbClr val="6D2E46"/>
                </a:solidFill>
                <a:latin typeface="Calibri" pitchFamily="34" charset="0"/>
                <a:ea typeface="Calibri" pitchFamily="34" charset="-122"/>
                <a:cs typeface="Calibri" pitchFamily="34" charset="-120"/>
              </a:rPr>
              <a:t>The norms they name</a:t>
            </a:r>
            <a:endParaRPr lang="en-US" sz="1250" dirty="0"/>
          </a:p>
        </p:txBody>
      </p:sp>
      <p:sp>
        <p:nvSpPr>
          <p:cNvPr id="10" name="Text 8"/>
          <p:cNvSpPr txBox="1"/>
          <p:nvPr/>
        </p:nvSpPr>
        <p:spPr>
          <a:xfrm>
            <a:off x="5715000" y="1645920"/>
            <a:ext cx="2743200" cy="1170432"/>
          </a:xfrm>
          <a:prstGeom prst="rect">
            <a:avLst/>
          </a:prstGeom>
          <a:noFill/>
          <a:ln/>
        </p:spPr>
        <p:txBody>
          <a:bodyPr wrap="square" lIns="0" tIns="0" rIns="0" bIns="0" rtlCol="0" anchor="t"/>
          <a:lstStyle/>
          <a:p>
            <a:pPr marL="342900" indent="-342900">
              <a:lnSpc>
                <a:spcPct val="106000"/>
              </a:lnSpc>
              <a:spcAft>
                <a:spcPts val="600"/>
              </a:spcAft>
              <a:buSzPct val="100000"/>
              <a:buChar char="•"/>
            </a:pPr>
            <a:r>
              <a:rPr lang="en-US" sz="1150" dirty="0">
                <a:solidFill>
                  <a:srgbClr val="2B2124"/>
                </a:solidFill>
                <a:latin typeface="Calibri" pitchFamily="34" charset="0"/>
                <a:ea typeface="Calibri" pitchFamily="34" charset="-122"/>
                <a:cs typeface="Calibri" pitchFamily="34" charset="-120"/>
              </a:rPr>
              <a:t>Plagiarism</a:t>
            </a:r>
            <a:endParaRPr lang="en-US" sz="1150" dirty="0"/>
          </a:p>
          <a:p>
            <a:pPr marL="342900" indent="-342900">
              <a:lnSpc>
                <a:spcPct val="106000"/>
              </a:lnSpc>
              <a:spcAft>
                <a:spcPts val="600"/>
              </a:spcAft>
              <a:buSzPct val="100000"/>
              <a:buChar char="•"/>
            </a:pPr>
            <a:r>
              <a:rPr lang="en-US" sz="1150" dirty="0">
                <a:solidFill>
                  <a:srgbClr val="2B2124"/>
                </a:solidFill>
                <a:latin typeface="Calibri" pitchFamily="34" charset="0"/>
                <a:ea typeface="Calibri" pitchFamily="34" charset="-122"/>
                <a:cs typeface="Calibri" pitchFamily="34" charset="-120"/>
              </a:rPr>
              <a:t>Attribution of authorship</a:t>
            </a:r>
            <a:endParaRPr lang="en-US" sz="1150" dirty="0"/>
          </a:p>
          <a:p>
            <a:pPr marL="342900" indent="-342900">
              <a:lnSpc>
                <a:spcPct val="106000"/>
              </a:lnSpc>
              <a:spcAft>
                <a:spcPts val="600"/>
              </a:spcAft>
              <a:buSzPct val="100000"/>
              <a:buChar char="•"/>
            </a:pPr>
            <a:r>
              <a:rPr lang="en-US" sz="1150" dirty="0">
                <a:solidFill>
                  <a:srgbClr val="2B2124"/>
                </a:solidFill>
                <a:latin typeface="Calibri" pitchFamily="34" charset="0"/>
                <a:ea typeface="Calibri" pitchFamily="34" charset="-122"/>
                <a:cs typeface="Calibri" pitchFamily="34" charset="-120"/>
              </a:rPr>
              <a:t>Integrity in data processing</a:t>
            </a:r>
            <a:endParaRPr lang="en-US" sz="1150" dirty="0"/>
          </a:p>
          <a:p>
            <a:pPr marL="342900" indent="-342900">
              <a:lnSpc>
                <a:spcPct val="106000"/>
              </a:lnSpc>
              <a:spcAft>
                <a:spcPts val="600"/>
              </a:spcAft>
              <a:buSzPct val="100000"/>
              <a:buChar char="•"/>
            </a:pPr>
            <a:r>
              <a:rPr lang="en-US" sz="1150" dirty="0">
                <a:solidFill>
                  <a:srgbClr val="2B2124"/>
                </a:solidFill>
                <a:latin typeface="Calibri" pitchFamily="34" charset="0"/>
                <a:ea typeface="Calibri" pitchFamily="34" charset="-122"/>
                <a:cs typeface="Calibri" pitchFamily="34" charset="-120"/>
              </a:rPr>
              <a:t>Protection and security</a:t>
            </a:r>
            <a:endParaRPr lang="en-US" sz="1150" dirty="0"/>
          </a:p>
        </p:txBody>
      </p:sp>
      <p:sp>
        <p:nvSpPr>
          <p:cNvPr id="11" name="Shape 9"/>
          <p:cNvSpPr/>
          <p:nvPr/>
        </p:nvSpPr>
        <p:spPr>
          <a:xfrm>
            <a:off x="5532120" y="3017520"/>
            <a:ext cx="3108960" cy="1188720"/>
          </a:xfrm>
          <a:prstGeom prst="roundRect">
            <a:avLst>
              <a:gd name="adj" fmla="val 6154"/>
            </a:avLst>
          </a:prstGeom>
          <a:solidFill>
            <a:srgbClr val="6D2E46"/>
          </a:solidFill>
          <a:ln w="12700">
            <a:solidFill>
              <a:srgbClr val="6D2E46"/>
            </a:solidFill>
            <a:prstDash val="solid"/>
          </a:ln>
        </p:spPr>
        <p:txBody>
          <a:bodyPr/>
          <a:lstStyle/>
          <a:p>
            <a:endParaRPr lang="en-US"/>
          </a:p>
        </p:txBody>
      </p:sp>
      <p:sp>
        <p:nvSpPr>
          <p:cNvPr id="12" name="Text 10"/>
          <p:cNvSpPr txBox="1"/>
          <p:nvPr/>
        </p:nvSpPr>
        <p:spPr>
          <a:xfrm>
            <a:off x="5715000" y="3017520"/>
            <a:ext cx="2743200" cy="1188720"/>
          </a:xfrm>
          <a:prstGeom prst="rect">
            <a:avLst/>
          </a:prstGeom>
          <a:noFill/>
          <a:ln/>
        </p:spPr>
        <p:txBody>
          <a:bodyPr wrap="square" lIns="0" tIns="0" rIns="0" bIns="0" rtlCol="0" anchor="ctr"/>
          <a:lstStyle/>
          <a:p>
            <a:pPr marL="0" indent="0">
              <a:lnSpc>
                <a:spcPct val="114000"/>
              </a:lnSpc>
              <a:buNone/>
            </a:pPr>
            <a:r>
              <a:rPr lang="en-US" sz="1150" b="1" dirty="0">
                <a:solidFill>
                  <a:srgbClr val="FFFFFF"/>
                </a:solidFill>
                <a:latin typeface="Calibri" pitchFamily="34" charset="0"/>
                <a:ea typeface="Calibri" pitchFamily="34" charset="-122"/>
                <a:cs typeface="Calibri" pitchFamily="34" charset="-120"/>
              </a:rPr>
              <a:t>Where researchers actually meet regulation: submitting to journals. Norms otherwise emerge through university working parties and committees.</a:t>
            </a:r>
            <a:endParaRPr lang="en-US" sz="1150" dirty="0"/>
          </a:p>
        </p:txBody>
      </p:sp>
      <p:sp>
        <p:nvSpPr>
          <p:cNvPr id="13" name="Text 11"/>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Rules and norms; Community and division of labour, pp. 10–12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D2E46"/>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ECE2D0"/>
                </a:solidFill>
                <a:latin typeface="Calibri" pitchFamily="34" charset="0"/>
                <a:ea typeface="Calibri" pitchFamily="34" charset="-122"/>
                <a:cs typeface="Calibri" pitchFamily="34" charset="-120"/>
              </a:rPr>
              <a:t>DISCUSSION</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Three tensions, two contradictions</a:t>
            </a:r>
            <a:endParaRPr lang="en-US" sz="3100" dirty="0"/>
          </a:p>
        </p:txBody>
      </p:sp>
      <p:sp>
        <p:nvSpPr>
          <p:cNvPr id="4" name="Text 2"/>
          <p:cNvSpPr txBox="1"/>
          <p:nvPr/>
        </p:nvSpPr>
        <p:spPr>
          <a:xfrm>
            <a:off x="502920" y="1115568"/>
            <a:ext cx="8138160" cy="402336"/>
          </a:xfrm>
          <a:prstGeom prst="rect">
            <a:avLst/>
          </a:prstGeom>
          <a:noFill/>
          <a:ln/>
        </p:spPr>
        <p:txBody>
          <a:bodyPr wrap="square" lIns="0" tIns="0" rIns="0" bIns="0" rtlCol="0" anchor="ctr"/>
          <a:lstStyle/>
          <a:p>
            <a:pPr marL="0" indent="0">
              <a:buNone/>
            </a:pPr>
            <a:r>
              <a:rPr lang="en-US" sz="1200" i="1" dirty="0">
                <a:solidFill>
                  <a:srgbClr val="ECE2D0"/>
                </a:solidFill>
                <a:latin typeface="Calibri" pitchFamily="34" charset="0"/>
                <a:ea typeface="Calibri" pitchFamily="34" charset="-122"/>
                <a:cs typeface="Calibri" pitchFamily="34" charset="-120"/>
              </a:rPr>
              <a:t>In activity theory, tensions are the visible symptoms of deeper contradictions — and they develop the system only when someone notices and works through them.</a:t>
            </a:r>
            <a:endParaRPr lang="en-US" sz="1200" dirty="0"/>
          </a:p>
        </p:txBody>
      </p:sp>
      <p:sp>
        <p:nvSpPr>
          <p:cNvPr id="5" name="Shape 3"/>
          <p:cNvSpPr/>
          <p:nvPr/>
        </p:nvSpPr>
        <p:spPr>
          <a:xfrm>
            <a:off x="502920" y="1664208"/>
            <a:ext cx="347472" cy="347472"/>
          </a:xfrm>
          <a:prstGeom prst="ellipse">
            <a:avLst/>
          </a:prstGeom>
          <a:solidFill>
            <a:srgbClr val="A26769"/>
          </a:solidFill>
          <a:ln w="12700">
            <a:solidFill>
              <a:srgbClr val="A26769"/>
            </a:solidFill>
            <a:prstDash val="solid"/>
          </a:ln>
        </p:spPr>
        <p:txBody>
          <a:bodyPr/>
          <a:lstStyle/>
          <a:p>
            <a:endParaRPr lang="en-US"/>
          </a:p>
        </p:txBody>
      </p:sp>
      <p:sp>
        <p:nvSpPr>
          <p:cNvPr id="6" name="Text 4"/>
          <p:cNvSpPr txBox="1"/>
          <p:nvPr/>
        </p:nvSpPr>
        <p:spPr>
          <a:xfrm>
            <a:off x="502920" y="16642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14984" y="1636776"/>
            <a:ext cx="3465576"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Efficiency vs. competence</a:t>
            </a:r>
            <a:endParaRPr lang="en-US" sz="1450" dirty="0"/>
          </a:p>
        </p:txBody>
      </p:sp>
      <p:sp>
        <p:nvSpPr>
          <p:cNvPr id="8" name="Text 6"/>
          <p:cNvSpPr txBox="1"/>
          <p:nvPr/>
        </p:nvSpPr>
        <p:spPr>
          <a:xfrm>
            <a:off x="1014984" y="1920240"/>
            <a:ext cx="3465576" cy="603504"/>
          </a:xfrm>
          <a:prstGeom prst="rect">
            <a:avLst/>
          </a:prstGeom>
          <a:noFill/>
          <a:ln/>
        </p:spPr>
        <p:txBody>
          <a:bodyPr wrap="square" lIns="0" tIns="0" rIns="0" bIns="0" rtlCol="0" anchor="t"/>
          <a:lstStyle/>
          <a:p>
            <a:pPr marL="0" indent="0">
              <a:lnSpc>
                <a:spcPct val="106000"/>
              </a:lnSpc>
              <a:buNone/>
            </a:pPr>
            <a:r>
              <a:rPr lang="en-US" sz="1150" dirty="0">
                <a:solidFill>
                  <a:srgbClr val="E8D8DC"/>
                </a:solidFill>
                <a:latin typeface="Calibri" pitchFamily="34" charset="0"/>
                <a:ea typeface="Calibri" pitchFamily="34" charset="-122"/>
                <a:cs typeface="Calibri" pitchFamily="34" charset="-120"/>
              </a:rPr>
              <a:t>Delegating saves time — but erodes the expertise needed to judge what comes back.</a:t>
            </a:r>
            <a:endParaRPr lang="en-US" sz="1150" dirty="0"/>
          </a:p>
        </p:txBody>
      </p:sp>
      <p:sp>
        <p:nvSpPr>
          <p:cNvPr id="9" name="Shape 7"/>
          <p:cNvSpPr/>
          <p:nvPr/>
        </p:nvSpPr>
        <p:spPr>
          <a:xfrm>
            <a:off x="502920" y="2615184"/>
            <a:ext cx="347472" cy="347472"/>
          </a:xfrm>
          <a:prstGeom prst="ellipse">
            <a:avLst/>
          </a:prstGeom>
          <a:solidFill>
            <a:srgbClr val="A26769"/>
          </a:solidFill>
          <a:ln w="12700">
            <a:solidFill>
              <a:srgbClr val="A26769"/>
            </a:solidFill>
            <a:prstDash val="solid"/>
          </a:ln>
        </p:spPr>
        <p:txBody>
          <a:bodyPr/>
          <a:lstStyle/>
          <a:p>
            <a:endParaRPr lang="en-US"/>
          </a:p>
        </p:txBody>
      </p:sp>
      <p:sp>
        <p:nvSpPr>
          <p:cNvPr id="10" name="Text 8"/>
          <p:cNvSpPr txBox="1"/>
          <p:nvPr/>
        </p:nvSpPr>
        <p:spPr>
          <a:xfrm>
            <a:off x="502920" y="261518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14984" y="2587752"/>
            <a:ext cx="3465576"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Rigour vs. output quality</a:t>
            </a:r>
            <a:endParaRPr lang="en-US" sz="1450" dirty="0"/>
          </a:p>
        </p:txBody>
      </p:sp>
      <p:sp>
        <p:nvSpPr>
          <p:cNvPr id="12" name="Text 10"/>
          <p:cNvSpPr txBox="1"/>
          <p:nvPr/>
        </p:nvSpPr>
        <p:spPr>
          <a:xfrm>
            <a:off x="1014984" y="2871216"/>
            <a:ext cx="3465576" cy="603504"/>
          </a:xfrm>
          <a:prstGeom prst="rect">
            <a:avLst/>
          </a:prstGeom>
          <a:noFill/>
          <a:ln/>
        </p:spPr>
        <p:txBody>
          <a:bodyPr wrap="square" lIns="0" tIns="0" rIns="0" bIns="0" rtlCol="0" anchor="t"/>
          <a:lstStyle/>
          <a:p>
            <a:pPr marL="0" indent="0">
              <a:lnSpc>
                <a:spcPct val="106000"/>
              </a:lnSpc>
              <a:buNone/>
            </a:pPr>
            <a:r>
              <a:rPr lang="en-US" sz="1150" dirty="0">
                <a:solidFill>
                  <a:srgbClr val="E8D8DC"/>
                </a:solidFill>
                <a:latin typeface="Calibri" pitchFamily="34" charset="0"/>
                <a:ea typeface="Calibri" pitchFamily="34" charset="-122"/>
                <a:cs typeface="Calibri" pitchFamily="34" charset="-120"/>
              </a:rPr>
              <a:t>Research needs accuracy and reproducibility; AI omits context and varies by version.</a:t>
            </a:r>
            <a:endParaRPr lang="en-US" sz="1150" dirty="0"/>
          </a:p>
        </p:txBody>
      </p:sp>
      <p:sp>
        <p:nvSpPr>
          <p:cNvPr id="13" name="Shape 11"/>
          <p:cNvSpPr/>
          <p:nvPr/>
        </p:nvSpPr>
        <p:spPr>
          <a:xfrm>
            <a:off x="502920" y="3566160"/>
            <a:ext cx="347472" cy="347472"/>
          </a:xfrm>
          <a:prstGeom prst="ellipse">
            <a:avLst/>
          </a:prstGeom>
          <a:solidFill>
            <a:srgbClr val="A26769"/>
          </a:solidFill>
          <a:ln w="12700">
            <a:solidFill>
              <a:srgbClr val="A26769"/>
            </a:solidFill>
            <a:prstDash val="solid"/>
          </a:ln>
        </p:spPr>
        <p:txBody>
          <a:bodyPr/>
          <a:lstStyle/>
          <a:p>
            <a:endParaRPr lang="en-US"/>
          </a:p>
        </p:txBody>
      </p:sp>
      <p:sp>
        <p:nvSpPr>
          <p:cNvPr id="14" name="Text 12"/>
          <p:cNvSpPr txBox="1"/>
          <p:nvPr/>
        </p:nvSpPr>
        <p:spPr>
          <a:xfrm>
            <a:off x="502920" y="356616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14984" y="3538728"/>
            <a:ext cx="3465576" cy="27432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Practice vs. regulation</a:t>
            </a:r>
            <a:endParaRPr lang="en-US" sz="1450" dirty="0"/>
          </a:p>
        </p:txBody>
      </p:sp>
      <p:sp>
        <p:nvSpPr>
          <p:cNvPr id="16" name="Text 14"/>
          <p:cNvSpPr txBox="1"/>
          <p:nvPr/>
        </p:nvSpPr>
        <p:spPr>
          <a:xfrm>
            <a:off x="1014984" y="3822192"/>
            <a:ext cx="3465576" cy="603504"/>
          </a:xfrm>
          <a:prstGeom prst="rect">
            <a:avLst/>
          </a:prstGeom>
          <a:noFill/>
          <a:ln/>
        </p:spPr>
        <p:txBody>
          <a:bodyPr wrap="square" lIns="0" tIns="0" rIns="0" bIns="0" rtlCol="0" anchor="t"/>
          <a:lstStyle/>
          <a:p>
            <a:pPr marL="0" indent="0">
              <a:lnSpc>
                <a:spcPct val="106000"/>
              </a:lnSpc>
              <a:buNone/>
            </a:pPr>
            <a:r>
              <a:rPr lang="en-US" sz="1150" dirty="0">
                <a:solidFill>
                  <a:srgbClr val="E8D8DC"/>
                </a:solidFill>
                <a:latin typeface="Calibri" pitchFamily="34" charset="0"/>
                <a:ea typeface="Calibri" pitchFamily="34" charset="-122"/>
                <a:cs typeface="Calibri" pitchFamily="34" charset="-120"/>
              </a:rPr>
              <a:t>Norms are unclear and unevenly known, so caution comes from uncertainty, not conviction.</a:t>
            </a:r>
            <a:endParaRPr lang="en-US" sz="1150" dirty="0"/>
          </a:p>
        </p:txBody>
      </p:sp>
      <p:sp>
        <p:nvSpPr>
          <p:cNvPr id="17" name="Shape 15"/>
          <p:cNvSpPr/>
          <p:nvPr/>
        </p:nvSpPr>
        <p:spPr>
          <a:xfrm>
            <a:off x="4892040" y="1664208"/>
            <a:ext cx="3749040" cy="1024128"/>
          </a:xfrm>
          <a:prstGeom prst="roundRect">
            <a:avLst>
              <a:gd name="adj" fmla="val 7143"/>
            </a:avLst>
          </a:prstGeom>
          <a:solidFill>
            <a:srgbClr val="8A4159"/>
          </a:solidFill>
          <a:ln w="12700">
            <a:solidFill>
              <a:srgbClr val="8A4159"/>
            </a:solidFill>
            <a:prstDash val="solid"/>
          </a:ln>
        </p:spPr>
        <p:txBody>
          <a:bodyPr/>
          <a:lstStyle/>
          <a:p>
            <a:endParaRPr lang="en-US"/>
          </a:p>
        </p:txBody>
      </p:sp>
      <p:sp>
        <p:nvSpPr>
          <p:cNvPr id="18" name="Text 16"/>
          <p:cNvSpPr txBox="1"/>
          <p:nvPr/>
        </p:nvSpPr>
        <p:spPr>
          <a:xfrm>
            <a:off x="5074920" y="1755648"/>
            <a:ext cx="3383280" cy="219456"/>
          </a:xfrm>
          <a:prstGeom prst="rect">
            <a:avLst/>
          </a:prstGeom>
          <a:noFill/>
          <a:ln/>
        </p:spPr>
        <p:txBody>
          <a:bodyPr wrap="square" lIns="0" tIns="0" rIns="0" bIns="0" rtlCol="0" anchor="ctr"/>
          <a:lstStyle/>
          <a:p>
            <a:pPr marL="0" indent="0">
              <a:buNone/>
            </a:pPr>
            <a:r>
              <a:rPr lang="en-US" sz="950" b="1" kern="0" spc="140" dirty="0">
                <a:solidFill>
                  <a:srgbClr val="ECE2D0"/>
                </a:solidFill>
                <a:latin typeface="Calibri" pitchFamily="34" charset="0"/>
                <a:ea typeface="Calibri" pitchFamily="34" charset="-122"/>
                <a:cs typeface="Calibri" pitchFamily="34" charset="-120"/>
              </a:rPr>
              <a:t>CONTRADICTION 1</a:t>
            </a:r>
            <a:endParaRPr lang="en-US" sz="950" dirty="0"/>
          </a:p>
        </p:txBody>
      </p:sp>
      <p:sp>
        <p:nvSpPr>
          <p:cNvPr id="19" name="Text 17"/>
          <p:cNvSpPr txBox="1"/>
          <p:nvPr/>
        </p:nvSpPr>
        <p:spPr>
          <a:xfrm>
            <a:off x="5074920" y="1975104"/>
            <a:ext cx="3383280" cy="621792"/>
          </a:xfrm>
          <a:prstGeom prst="rect">
            <a:avLst/>
          </a:prstGeom>
          <a:noFill/>
          <a:ln/>
        </p:spPr>
        <p:txBody>
          <a:bodyPr wrap="square" lIns="0" tIns="0" rIns="0" bIns="0" rtlCol="0" anchor="t"/>
          <a:lstStyle/>
          <a:p>
            <a:pPr marL="0" indent="0">
              <a:lnSpc>
                <a:spcPct val="112000"/>
              </a:lnSpc>
              <a:buNone/>
            </a:pPr>
            <a:r>
              <a:rPr lang="en-US" sz="1200" dirty="0">
                <a:solidFill>
                  <a:srgbClr val="FFFFFF"/>
                </a:solidFill>
                <a:latin typeface="Calibri" pitchFamily="34" charset="0"/>
                <a:ea typeface="Calibri" pitchFamily="34" charset="-122"/>
                <a:cs typeface="Calibri" pitchFamily="34" charset="-120"/>
              </a:rPr>
              <a:t>AI is seen as genuinely useful, yet distrusted because these systems are opaque.</a:t>
            </a:r>
            <a:endParaRPr lang="en-US" sz="1200" dirty="0"/>
          </a:p>
        </p:txBody>
      </p:sp>
      <p:sp>
        <p:nvSpPr>
          <p:cNvPr id="20" name="Shape 18"/>
          <p:cNvSpPr/>
          <p:nvPr/>
        </p:nvSpPr>
        <p:spPr>
          <a:xfrm>
            <a:off x="4892040" y="2798064"/>
            <a:ext cx="3749040" cy="1024128"/>
          </a:xfrm>
          <a:prstGeom prst="roundRect">
            <a:avLst>
              <a:gd name="adj" fmla="val 7143"/>
            </a:avLst>
          </a:prstGeom>
          <a:solidFill>
            <a:srgbClr val="8A4159"/>
          </a:solidFill>
          <a:ln w="12700">
            <a:solidFill>
              <a:srgbClr val="8A4159"/>
            </a:solidFill>
            <a:prstDash val="solid"/>
          </a:ln>
        </p:spPr>
        <p:txBody>
          <a:bodyPr/>
          <a:lstStyle/>
          <a:p>
            <a:endParaRPr lang="en-US"/>
          </a:p>
        </p:txBody>
      </p:sp>
      <p:sp>
        <p:nvSpPr>
          <p:cNvPr id="21" name="Text 19"/>
          <p:cNvSpPr txBox="1"/>
          <p:nvPr/>
        </p:nvSpPr>
        <p:spPr>
          <a:xfrm>
            <a:off x="5074920" y="2889504"/>
            <a:ext cx="3383280" cy="219456"/>
          </a:xfrm>
          <a:prstGeom prst="rect">
            <a:avLst/>
          </a:prstGeom>
          <a:noFill/>
          <a:ln/>
        </p:spPr>
        <p:txBody>
          <a:bodyPr wrap="square" lIns="0" tIns="0" rIns="0" bIns="0" rtlCol="0" anchor="ctr"/>
          <a:lstStyle/>
          <a:p>
            <a:pPr marL="0" indent="0">
              <a:buNone/>
            </a:pPr>
            <a:r>
              <a:rPr lang="en-US" sz="950" b="1" kern="0" spc="140" dirty="0">
                <a:solidFill>
                  <a:srgbClr val="ECE2D0"/>
                </a:solidFill>
                <a:latin typeface="Calibri" pitchFamily="34" charset="0"/>
                <a:ea typeface="Calibri" pitchFamily="34" charset="-122"/>
                <a:cs typeface="Calibri" pitchFamily="34" charset="-120"/>
              </a:rPr>
              <a:t>CONTRADICTION 2</a:t>
            </a:r>
            <a:endParaRPr lang="en-US" sz="950" dirty="0"/>
          </a:p>
        </p:txBody>
      </p:sp>
      <p:sp>
        <p:nvSpPr>
          <p:cNvPr id="22" name="Text 20"/>
          <p:cNvSpPr txBox="1"/>
          <p:nvPr/>
        </p:nvSpPr>
        <p:spPr>
          <a:xfrm>
            <a:off x="5074920" y="3108960"/>
            <a:ext cx="3383280" cy="658368"/>
          </a:xfrm>
          <a:prstGeom prst="rect">
            <a:avLst/>
          </a:prstGeom>
          <a:noFill/>
          <a:ln/>
        </p:spPr>
        <p:txBody>
          <a:bodyPr wrap="square" lIns="0" tIns="0" rIns="0" bIns="0" rtlCol="0" anchor="t"/>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The community wants AI's research value universally recognised — but unequal access and expertise keep pulling that apart.</a:t>
            </a:r>
            <a:endParaRPr lang="en-US" sz="1200" dirty="0"/>
          </a:p>
        </p:txBody>
      </p:sp>
      <p:sp>
        <p:nvSpPr>
          <p:cNvPr id="23" name="Text 21"/>
          <p:cNvSpPr txBox="1"/>
          <p:nvPr/>
        </p:nvSpPr>
        <p:spPr>
          <a:xfrm>
            <a:off x="4892040" y="3931920"/>
            <a:ext cx="3749040" cy="457200"/>
          </a:xfrm>
          <a:prstGeom prst="rect">
            <a:avLst/>
          </a:prstGeom>
          <a:noFill/>
          <a:ln/>
        </p:spPr>
        <p:txBody>
          <a:bodyPr wrap="square" lIns="0" tIns="0" rIns="0" bIns="0" rtlCol="0" anchor="t"/>
          <a:lstStyle/>
          <a:p>
            <a:pPr marL="0" indent="0">
              <a:lnSpc>
                <a:spcPct val="110000"/>
              </a:lnSpc>
              <a:buNone/>
            </a:pPr>
            <a:r>
              <a:rPr lang="en-US" sz="1100" i="1" dirty="0">
                <a:solidFill>
                  <a:srgbClr val="ECE2D0"/>
                </a:solidFill>
                <a:latin typeface="Calibri" pitchFamily="34" charset="0"/>
                <a:ea typeface="Calibri" pitchFamily="34" charset="-122"/>
                <a:cs typeface="Calibri" pitchFamily="34" charset="-120"/>
              </a:rPr>
              <a:t>Their remedy: institutional support — access to good tools, AI-literacy training, clearer guidance.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LIMITS</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What they admit — and what I'd add</a:t>
            </a:r>
            <a:endParaRPr lang="en-US" sz="3100" dirty="0"/>
          </a:p>
        </p:txBody>
      </p:sp>
      <p:sp>
        <p:nvSpPr>
          <p:cNvPr id="4" name="Shape 2"/>
          <p:cNvSpPr/>
          <p:nvPr/>
        </p:nvSpPr>
        <p:spPr>
          <a:xfrm>
            <a:off x="502920" y="1188720"/>
            <a:ext cx="3977640" cy="2788920"/>
          </a:xfrm>
          <a:prstGeom prst="roundRect">
            <a:avLst>
              <a:gd name="adj" fmla="val 2623"/>
            </a:avLst>
          </a:prstGeom>
          <a:solidFill>
            <a:srgbClr val="F6F0EE"/>
          </a:solidFill>
          <a:ln w="12700">
            <a:solidFill>
              <a:srgbClr val="F6F0EE"/>
            </a:solidFill>
            <a:prstDash val="solid"/>
          </a:ln>
        </p:spPr>
        <p:txBody>
          <a:bodyPr/>
          <a:lstStyle/>
          <a:p>
            <a:endParaRPr lang="en-US"/>
          </a:p>
        </p:txBody>
      </p:sp>
      <p:sp>
        <p:nvSpPr>
          <p:cNvPr id="5" name="Text 3"/>
          <p:cNvSpPr txBox="1"/>
          <p:nvPr/>
        </p:nvSpPr>
        <p:spPr>
          <a:xfrm>
            <a:off x="685800" y="1316736"/>
            <a:ext cx="3611880" cy="274320"/>
          </a:xfrm>
          <a:prstGeom prst="rect">
            <a:avLst/>
          </a:prstGeom>
          <a:noFill/>
          <a:ln/>
        </p:spPr>
        <p:txBody>
          <a:bodyPr wrap="square" lIns="0" tIns="0" rIns="0" bIns="0" rtlCol="0" anchor="ctr"/>
          <a:lstStyle/>
          <a:p>
            <a:pPr marL="0" indent="0">
              <a:buNone/>
            </a:pPr>
            <a:r>
              <a:rPr lang="en-US" sz="1300" b="1" dirty="0">
                <a:solidFill>
                  <a:srgbClr val="6D2E46"/>
                </a:solidFill>
                <a:latin typeface="Calibri" pitchFamily="34" charset="0"/>
                <a:ea typeface="Calibri" pitchFamily="34" charset="-122"/>
                <a:cs typeface="Calibri" pitchFamily="34" charset="-120"/>
              </a:rPr>
              <a:t>Their limitations</a:t>
            </a:r>
            <a:endParaRPr lang="en-US" sz="1300" dirty="0"/>
          </a:p>
        </p:txBody>
      </p:sp>
      <p:sp>
        <p:nvSpPr>
          <p:cNvPr id="6" name="Text 4"/>
          <p:cNvSpPr txBox="1"/>
          <p:nvPr/>
        </p:nvSpPr>
        <p:spPr>
          <a:xfrm>
            <a:off x="685800" y="1664208"/>
            <a:ext cx="3611880" cy="2194560"/>
          </a:xfrm>
          <a:prstGeom prst="rect">
            <a:avLst/>
          </a:prstGeom>
          <a:noFill/>
          <a:ln/>
        </p:spPr>
        <p:txBody>
          <a:bodyPr wrap="square" lIns="0" tIns="0" rIns="0" bIns="0" rtlCol="0" anchor="t"/>
          <a:lstStyle/>
          <a:p>
            <a:pPr marL="342900" indent="-342900">
              <a:lnSpc>
                <a:spcPct val="106000"/>
              </a:lnSpc>
              <a:spcAft>
                <a:spcPts val="1100"/>
              </a:spcAft>
              <a:buSzPct val="100000"/>
              <a:buChar char="•"/>
            </a:pPr>
            <a:r>
              <a:rPr lang="en-US" sz="1200" dirty="0">
                <a:solidFill>
                  <a:srgbClr val="2B2124"/>
                </a:solidFill>
                <a:latin typeface="Calibri" pitchFamily="34" charset="0"/>
                <a:ea typeface="Calibri" pitchFamily="34" charset="-122"/>
                <a:cs typeface="Calibri" pitchFamily="34" charset="-120"/>
              </a:rPr>
              <a:t>13 interviews at one institution in one country</a:t>
            </a:r>
            <a:endParaRPr lang="en-US" sz="1200" dirty="0"/>
          </a:p>
          <a:p>
            <a:pPr marL="342900" indent="-342900">
              <a:lnSpc>
                <a:spcPct val="106000"/>
              </a:lnSpc>
              <a:spcAft>
                <a:spcPts val="1100"/>
              </a:spcAft>
              <a:buSzPct val="100000"/>
              <a:buChar char="•"/>
            </a:pPr>
            <a:r>
              <a:rPr lang="en-US" sz="1200" dirty="0">
                <a:solidFill>
                  <a:srgbClr val="2B2124"/>
                </a:solidFill>
                <a:latin typeface="Calibri" pitchFamily="34" charset="0"/>
                <a:ea typeface="Calibri" pitchFamily="34" charset="-122"/>
                <a:cs typeface="Calibri" pitchFamily="34" charset="-120"/>
              </a:rPr>
              <a:t>Self-reported data, open to bias</a:t>
            </a:r>
            <a:endParaRPr lang="en-US" sz="1200" dirty="0"/>
          </a:p>
          <a:p>
            <a:pPr marL="342900" indent="-342900">
              <a:lnSpc>
                <a:spcPct val="106000"/>
              </a:lnSpc>
              <a:spcAft>
                <a:spcPts val="1100"/>
              </a:spcAft>
              <a:buSzPct val="100000"/>
              <a:buChar char="•"/>
            </a:pPr>
            <a:r>
              <a:rPr lang="en-US" sz="1200" dirty="0">
                <a:solidFill>
                  <a:srgbClr val="2B2124"/>
                </a:solidFill>
                <a:latin typeface="Calibri" pitchFamily="34" charset="0"/>
                <a:ea typeface="Calibri" pitchFamily="34" charset="-122"/>
                <a:cs typeface="Calibri" pitchFamily="34" charset="-120"/>
              </a:rPr>
              <a:t>A snapshot — usage was shifting as they wrote</a:t>
            </a:r>
            <a:endParaRPr lang="en-US" sz="1200" dirty="0"/>
          </a:p>
          <a:p>
            <a:pPr marL="342900" indent="-342900">
              <a:lnSpc>
                <a:spcPct val="106000"/>
              </a:lnSpc>
              <a:spcAft>
                <a:spcPts val="1100"/>
              </a:spcAft>
              <a:buSzPct val="100000"/>
              <a:buChar char="•"/>
            </a:pPr>
            <a:r>
              <a:rPr lang="en-US" sz="1200" dirty="0">
                <a:solidFill>
                  <a:srgbClr val="2B2124"/>
                </a:solidFill>
                <a:latin typeface="Calibri" pitchFamily="34" charset="0"/>
                <a:ea typeface="Calibri" pitchFamily="34" charset="-122"/>
                <a:cs typeface="Calibri" pitchFamily="34" charset="-120"/>
              </a:rPr>
              <a:t>Echoes elsewhere don't cancel the sampling bias</a:t>
            </a:r>
            <a:endParaRPr lang="en-US" sz="1200" dirty="0"/>
          </a:p>
        </p:txBody>
      </p:sp>
      <p:sp>
        <p:nvSpPr>
          <p:cNvPr id="7" name="Shape 5"/>
          <p:cNvSpPr/>
          <p:nvPr/>
        </p:nvSpPr>
        <p:spPr>
          <a:xfrm>
            <a:off x="4663440" y="1188720"/>
            <a:ext cx="3977640" cy="2788920"/>
          </a:xfrm>
          <a:prstGeom prst="roundRect">
            <a:avLst>
              <a:gd name="adj" fmla="val 2623"/>
            </a:avLst>
          </a:prstGeom>
          <a:solidFill>
            <a:srgbClr val="FFFFFF"/>
          </a:solidFill>
          <a:ln w="15875">
            <a:solidFill>
              <a:srgbClr val="ECE2D0"/>
            </a:solidFill>
            <a:prstDash val="solid"/>
          </a:ln>
        </p:spPr>
        <p:txBody>
          <a:bodyPr/>
          <a:lstStyle/>
          <a:p>
            <a:endParaRPr lang="en-US"/>
          </a:p>
        </p:txBody>
      </p:sp>
      <p:sp>
        <p:nvSpPr>
          <p:cNvPr id="8" name="Text 6"/>
          <p:cNvSpPr txBox="1"/>
          <p:nvPr/>
        </p:nvSpPr>
        <p:spPr>
          <a:xfrm>
            <a:off x="4846320" y="1316736"/>
            <a:ext cx="3611880" cy="274320"/>
          </a:xfrm>
          <a:prstGeom prst="rect">
            <a:avLst/>
          </a:prstGeom>
          <a:noFill/>
          <a:ln/>
        </p:spPr>
        <p:txBody>
          <a:bodyPr wrap="square" lIns="0" tIns="0" rIns="0" bIns="0" rtlCol="0" anchor="ctr"/>
          <a:lstStyle/>
          <a:p>
            <a:pPr marL="0" indent="0">
              <a:buNone/>
            </a:pPr>
            <a:r>
              <a:rPr lang="en-US" sz="1300" b="1" dirty="0">
                <a:solidFill>
                  <a:srgbClr val="A26769"/>
                </a:solidFill>
                <a:latin typeface="Calibri" pitchFamily="34" charset="0"/>
                <a:ea typeface="Calibri" pitchFamily="34" charset="-122"/>
                <a:cs typeface="Calibri" pitchFamily="34" charset="-120"/>
              </a:rPr>
              <a:t>My additions</a:t>
            </a:r>
            <a:endParaRPr lang="en-US" sz="1300" dirty="0"/>
          </a:p>
        </p:txBody>
      </p:sp>
      <p:sp>
        <p:nvSpPr>
          <p:cNvPr id="9" name="Text 7"/>
          <p:cNvSpPr txBox="1"/>
          <p:nvPr/>
        </p:nvSpPr>
        <p:spPr>
          <a:xfrm>
            <a:off x="4846320" y="1664208"/>
            <a:ext cx="3611880" cy="2194560"/>
          </a:xfrm>
          <a:prstGeom prst="rect">
            <a:avLst/>
          </a:prstGeom>
          <a:noFill/>
          <a:ln/>
        </p:spPr>
        <p:txBody>
          <a:bodyPr wrap="square" lIns="0" tIns="0" rIns="0" bIns="0" rtlCol="0" anchor="t"/>
          <a:lstStyle/>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The sample skews to information-adjacent fields — these are not typical social scientists</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Snowballed from the authors' own colleagues in their own faculty</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Coding was framework-first: the tensions are the theory's category, not the respondents'</a:t>
            </a:r>
            <a:endParaRPr lang="en-US" sz="1150" dirty="0"/>
          </a:p>
          <a:p>
            <a:pPr marL="342900" indent="-342900">
              <a:lnSpc>
                <a:spcPct val="106000"/>
              </a:lnSpc>
              <a:spcAft>
                <a:spcPts val="1000"/>
              </a:spcAft>
              <a:buSzPct val="100000"/>
              <a:buChar char="•"/>
            </a:pPr>
            <a:r>
              <a:rPr lang="en-US" sz="1150" dirty="0">
                <a:solidFill>
                  <a:srgbClr val="2B2124"/>
                </a:solidFill>
                <a:latin typeface="Calibri" pitchFamily="34" charset="0"/>
                <a:ea typeface="Calibri" pitchFamily="34" charset="-122"/>
                <a:cs typeface="Calibri" pitchFamily="34" charset="-120"/>
              </a:rPr>
              <a:t>No dates given for when the interviews happened</a:t>
            </a:r>
            <a:endParaRPr lang="en-US" sz="1150" dirty="0"/>
          </a:p>
        </p:txBody>
      </p:sp>
      <p:sp>
        <p:nvSpPr>
          <p:cNvPr id="10" name="Text 8"/>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Limitations and Further research, p.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01168"/>
            <a:ext cx="8138160" cy="219456"/>
          </a:xfrm>
          <a:prstGeom prst="rect">
            <a:avLst/>
          </a:prstGeom>
          <a:noFill/>
          <a:ln/>
        </p:spPr>
        <p:txBody>
          <a:bodyPr wrap="square" lIns="0" tIns="0" rIns="0" bIns="0" rtlCol="0" anchor="ctr"/>
          <a:lstStyle/>
          <a:p>
            <a:pPr marL="0" indent="0">
              <a:buNone/>
            </a:pPr>
            <a:r>
              <a:rPr lang="en-US" sz="1050" b="1" kern="0" spc="200" dirty="0">
                <a:solidFill>
                  <a:srgbClr val="A26769"/>
                </a:solidFill>
                <a:latin typeface="Calibri" pitchFamily="34" charset="0"/>
                <a:ea typeface="Calibri" pitchFamily="34" charset="-122"/>
                <a:cs typeface="Calibri" pitchFamily="34" charset="-120"/>
              </a:rPr>
              <a:t>TAKEAWAY</a:t>
            </a:r>
            <a:endParaRPr lang="en-US" sz="1050" dirty="0"/>
          </a:p>
        </p:txBody>
      </p:sp>
      <p:sp>
        <p:nvSpPr>
          <p:cNvPr id="3" name="Text 1"/>
          <p:cNvSpPr txBox="1"/>
          <p:nvPr/>
        </p:nvSpPr>
        <p:spPr>
          <a:xfrm>
            <a:off x="502920" y="420624"/>
            <a:ext cx="8138160" cy="603504"/>
          </a:xfrm>
          <a:prstGeom prst="rect">
            <a:avLst/>
          </a:prstGeom>
          <a:noFill/>
          <a:ln/>
        </p:spPr>
        <p:txBody>
          <a:bodyPr wrap="square" lIns="0" tIns="0" rIns="0" bIns="0" rtlCol="0" anchor="ctr"/>
          <a:lstStyle/>
          <a:p>
            <a:pPr marL="0" indent="0">
              <a:buNone/>
            </a:pPr>
            <a:r>
              <a:rPr lang="en-US" sz="3100" b="1" dirty="0">
                <a:solidFill>
                  <a:srgbClr val="6D2E46"/>
                </a:solidFill>
                <a:latin typeface="Cambria" pitchFamily="34" charset="0"/>
                <a:ea typeface="Cambria" pitchFamily="34" charset="-122"/>
                <a:cs typeface="Cambria" pitchFamily="34" charset="-120"/>
              </a:rPr>
              <a:t>Three things worth carrying out</a:t>
            </a:r>
            <a:endParaRPr lang="en-US" sz="3100" dirty="0"/>
          </a:p>
        </p:txBody>
      </p:sp>
      <p:sp>
        <p:nvSpPr>
          <p:cNvPr id="4" name="Shape 2"/>
          <p:cNvSpPr/>
          <p:nvPr/>
        </p:nvSpPr>
        <p:spPr>
          <a:xfrm>
            <a:off x="502920" y="1298448"/>
            <a:ext cx="347472" cy="347472"/>
          </a:xfrm>
          <a:prstGeom prst="ellipse">
            <a:avLst/>
          </a:prstGeom>
          <a:solidFill>
            <a:srgbClr val="6D2E46"/>
          </a:solidFill>
          <a:ln w="12700">
            <a:solidFill>
              <a:srgbClr val="6D2E46"/>
            </a:solidFill>
            <a:prstDash val="solid"/>
          </a:ln>
        </p:spPr>
        <p:txBody>
          <a:bodyPr/>
          <a:lstStyle/>
          <a:p>
            <a:endParaRPr lang="en-US"/>
          </a:p>
        </p:txBody>
      </p:sp>
      <p:sp>
        <p:nvSpPr>
          <p:cNvPr id="5" name="Text 3"/>
          <p:cNvSpPr txBox="1"/>
          <p:nvPr/>
        </p:nvSpPr>
        <p:spPr>
          <a:xfrm>
            <a:off x="502920" y="129844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14984" y="1271016"/>
            <a:ext cx="7626096" cy="274320"/>
          </a:xfrm>
          <a:prstGeom prst="rect">
            <a:avLst/>
          </a:prstGeom>
          <a:noFill/>
          <a:ln/>
        </p:spPr>
        <p:txBody>
          <a:bodyPr wrap="square" lIns="0" tIns="0" rIns="0" bIns="0" rtlCol="0" anchor="ctr"/>
          <a:lstStyle/>
          <a:p>
            <a:pPr marL="0" indent="0">
              <a:buNone/>
            </a:pPr>
            <a:r>
              <a:rPr lang="en-US" sz="1450" b="1" dirty="0">
                <a:solidFill>
                  <a:srgbClr val="2B2124"/>
                </a:solidFill>
                <a:latin typeface="Calibri" pitchFamily="34" charset="0"/>
                <a:ea typeface="Calibri" pitchFamily="34" charset="-122"/>
                <a:cs typeface="Calibri" pitchFamily="34" charset="-120"/>
              </a:rPr>
              <a:t>Adoption is about time, not capability</a:t>
            </a:r>
            <a:endParaRPr lang="en-US" sz="1450" dirty="0"/>
          </a:p>
        </p:txBody>
      </p:sp>
      <p:sp>
        <p:nvSpPr>
          <p:cNvPr id="7" name="Text 5"/>
          <p:cNvSpPr txBox="1"/>
          <p:nvPr/>
        </p:nvSpPr>
        <p:spPr>
          <a:xfrm>
            <a:off x="1014984" y="1554480"/>
            <a:ext cx="7626096" cy="603504"/>
          </a:xfrm>
          <a:prstGeom prst="rect">
            <a:avLst/>
          </a:prstGeom>
          <a:noFill/>
          <a:ln/>
        </p:spPr>
        <p:txBody>
          <a:bodyPr wrap="square" lIns="0" tIns="0" rIns="0" bIns="0" rtlCol="0" anchor="t"/>
          <a:lstStyle/>
          <a:p>
            <a:pPr marL="0" indent="0">
              <a:lnSpc>
                <a:spcPct val="106000"/>
              </a:lnSpc>
              <a:buNone/>
            </a:pPr>
            <a:r>
              <a:rPr lang="en-US" sz="1150" dirty="0">
                <a:solidFill>
                  <a:srgbClr val="7A6B6E"/>
                </a:solidFill>
                <a:latin typeface="Calibri" pitchFamily="34" charset="0"/>
                <a:ea typeface="Calibri" pitchFamily="34" charset="-122"/>
                <a:cs typeface="Calibri" pitchFamily="34" charset="-120"/>
              </a:rPr>
              <a:t>These researchers use AI to clear routine work — search, translation, editing, e-mail — not to do better research. That reframes what “adoption” means.</a:t>
            </a:r>
            <a:endParaRPr lang="en-US" sz="1150" dirty="0"/>
          </a:p>
        </p:txBody>
      </p:sp>
      <p:sp>
        <p:nvSpPr>
          <p:cNvPr id="8" name="Shape 6"/>
          <p:cNvSpPr/>
          <p:nvPr/>
        </p:nvSpPr>
        <p:spPr>
          <a:xfrm>
            <a:off x="502920" y="2395728"/>
            <a:ext cx="347472" cy="347472"/>
          </a:xfrm>
          <a:prstGeom prst="ellipse">
            <a:avLst/>
          </a:prstGeom>
          <a:solidFill>
            <a:srgbClr val="6D2E46"/>
          </a:solidFill>
          <a:ln w="12700">
            <a:solidFill>
              <a:srgbClr val="6D2E46"/>
            </a:solidFill>
            <a:prstDash val="solid"/>
          </a:ln>
        </p:spPr>
        <p:txBody>
          <a:bodyPr/>
          <a:lstStyle/>
          <a:p>
            <a:endParaRPr lang="en-US"/>
          </a:p>
        </p:txBody>
      </p:sp>
      <p:sp>
        <p:nvSpPr>
          <p:cNvPr id="9" name="Text 7"/>
          <p:cNvSpPr txBox="1"/>
          <p:nvPr/>
        </p:nvSpPr>
        <p:spPr>
          <a:xfrm>
            <a:off x="502920" y="239572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14984" y="2368296"/>
            <a:ext cx="7626096" cy="274320"/>
          </a:xfrm>
          <a:prstGeom prst="rect">
            <a:avLst/>
          </a:prstGeom>
          <a:noFill/>
          <a:ln/>
        </p:spPr>
        <p:txBody>
          <a:bodyPr wrap="square" lIns="0" tIns="0" rIns="0" bIns="0" rtlCol="0" anchor="ctr"/>
          <a:lstStyle/>
          <a:p>
            <a:pPr marL="0" indent="0">
              <a:buNone/>
            </a:pPr>
            <a:r>
              <a:rPr lang="en-US" sz="1450" b="1" dirty="0">
                <a:solidFill>
                  <a:srgbClr val="2B2124"/>
                </a:solidFill>
                <a:latin typeface="Calibri" pitchFamily="34" charset="0"/>
                <a:ea typeface="Calibri" pitchFamily="34" charset="-122"/>
                <a:cs typeface="Calibri" pitchFamily="34" charset="-120"/>
              </a:rPr>
              <a:t>The limit is judgement, not access</a:t>
            </a:r>
            <a:endParaRPr lang="en-US" sz="1450" dirty="0"/>
          </a:p>
        </p:txBody>
      </p:sp>
      <p:sp>
        <p:nvSpPr>
          <p:cNvPr id="11" name="Text 9"/>
          <p:cNvSpPr txBox="1"/>
          <p:nvPr/>
        </p:nvSpPr>
        <p:spPr>
          <a:xfrm>
            <a:off x="1014984" y="2651760"/>
            <a:ext cx="7626096" cy="603504"/>
          </a:xfrm>
          <a:prstGeom prst="rect">
            <a:avLst/>
          </a:prstGeom>
          <a:noFill/>
          <a:ln/>
        </p:spPr>
        <p:txBody>
          <a:bodyPr wrap="square" lIns="0" tIns="0" rIns="0" bIns="0" rtlCol="0" anchor="t"/>
          <a:lstStyle/>
          <a:p>
            <a:pPr marL="0" indent="0">
              <a:lnSpc>
                <a:spcPct val="106000"/>
              </a:lnSpc>
              <a:buNone/>
            </a:pPr>
            <a:r>
              <a:rPr lang="en-US" sz="1150" dirty="0">
                <a:solidFill>
                  <a:srgbClr val="7A6B6E"/>
                </a:solidFill>
                <a:latin typeface="Calibri" pitchFamily="34" charset="0"/>
                <a:ea typeface="Calibri" pitchFamily="34" charset="-122"/>
                <a:cs typeface="Calibri" pitchFamily="34" charset="-120"/>
              </a:rPr>
              <a:t>They had the tools and still used AI only at the front of the pipeline, because you need the expertise to check the output — the expertise you hoped to save.</a:t>
            </a:r>
            <a:endParaRPr lang="en-US" sz="1150" dirty="0"/>
          </a:p>
        </p:txBody>
      </p:sp>
      <p:sp>
        <p:nvSpPr>
          <p:cNvPr id="12" name="Shape 10"/>
          <p:cNvSpPr/>
          <p:nvPr/>
        </p:nvSpPr>
        <p:spPr>
          <a:xfrm>
            <a:off x="502920" y="3493008"/>
            <a:ext cx="347472" cy="347472"/>
          </a:xfrm>
          <a:prstGeom prst="ellipse">
            <a:avLst/>
          </a:prstGeom>
          <a:solidFill>
            <a:srgbClr val="6D2E46"/>
          </a:solidFill>
          <a:ln w="12700">
            <a:solidFill>
              <a:srgbClr val="6D2E46"/>
            </a:solidFill>
            <a:prstDash val="solid"/>
          </a:ln>
        </p:spPr>
        <p:txBody>
          <a:bodyPr/>
          <a:lstStyle/>
          <a:p>
            <a:endParaRPr lang="en-US"/>
          </a:p>
        </p:txBody>
      </p:sp>
      <p:sp>
        <p:nvSpPr>
          <p:cNvPr id="13" name="Text 11"/>
          <p:cNvSpPr txBox="1"/>
          <p:nvPr/>
        </p:nvSpPr>
        <p:spPr>
          <a:xfrm>
            <a:off x="502920" y="34930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14984" y="3465576"/>
            <a:ext cx="7626096" cy="274320"/>
          </a:xfrm>
          <a:prstGeom prst="rect">
            <a:avLst/>
          </a:prstGeom>
          <a:noFill/>
          <a:ln/>
        </p:spPr>
        <p:txBody>
          <a:bodyPr wrap="square" lIns="0" tIns="0" rIns="0" bIns="0" rtlCol="0" anchor="ctr"/>
          <a:lstStyle/>
          <a:p>
            <a:pPr marL="0" indent="0">
              <a:buNone/>
            </a:pPr>
            <a:r>
              <a:rPr lang="en-US" sz="1450" b="1" dirty="0">
                <a:solidFill>
                  <a:srgbClr val="2B2124"/>
                </a:solidFill>
                <a:latin typeface="Calibri" pitchFamily="34" charset="0"/>
                <a:ea typeface="Calibri" pitchFamily="34" charset="-122"/>
                <a:cs typeface="Calibri" pitchFamily="34" charset="-120"/>
              </a:rPr>
              <a:t>Policy is aimed at the wrong people</a:t>
            </a:r>
            <a:endParaRPr lang="en-US" sz="1450" dirty="0"/>
          </a:p>
        </p:txBody>
      </p:sp>
      <p:sp>
        <p:nvSpPr>
          <p:cNvPr id="15" name="Text 13"/>
          <p:cNvSpPr txBox="1"/>
          <p:nvPr/>
        </p:nvSpPr>
        <p:spPr>
          <a:xfrm>
            <a:off x="1014984" y="3749040"/>
            <a:ext cx="7626096" cy="603504"/>
          </a:xfrm>
          <a:prstGeom prst="rect">
            <a:avLst/>
          </a:prstGeom>
          <a:noFill/>
          <a:ln/>
        </p:spPr>
        <p:txBody>
          <a:bodyPr wrap="square" lIns="0" tIns="0" rIns="0" bIns="0" rtlCol="0" anchor="t"/>
          <a:lstStyle/>
          <a:p>
            <a:pPr marL="0" indent="0">
              <a:lnSpc>
                <a:spcPct val="106000"/>
              </a:lnSpc>
              <a:buNone/>
            </a:pPr>
            <a:r>
              <a:rPr lang="en-US" sz="1150" dirty="0">
                <a:solidFill>
                  <a:srgbClr val="7A6B6E"/>
                </a:solidFill>
                <a:latin typeface="Calibri" pitchFamily="34" charset="0"/>
                <a:ea typeface="Calibri" pitchFamily="34" charset="-122"/>
                <a:cs typeface="Calibri" pitchFamily="34" charset="-120"/>
              </a:rPr>
              <a:t>Institutional AI guidance is written for students and assessment. Researchers get their real constraints from journal submission rules.</a:t>
            </a:r>
            <a:endParaRPr lang="en-US" sz="1150" dirty="0"/>
          </a:p>
        </p:txBody>
      </p:sp>
      <p:sp>
        <p:nvSpPr>
          <p:cNvPr id="16" name="Text 14"/>
          <p:cNvSpPr txBox="1"/>
          <p:nvPr/>
        </p:nvSpPr>
        <p:spPr>
          <a:xfrm>
            <a:off x="502920" y="4777740"/>
            <a:ext cx="8138160" cy="219456"/>
          </a:xfrm>
          <a:prstGeom prst="rect">
            <a:avLst/>
          </a:prstGeom>
          <a:noFill/>
          <a:ln/>
        </p:spPr>
        <p:txBody>
          <a:bodyPr wrap="square" lIns="0" tIns="0" rIns="0" bIns="0" rtlCol="0" anchor="ctr"/>
          <a:lstStyle/>
          <a:p>
            <a:pPr marL="0" indent="0">
              <a:buNone/>
            </a:pPr>
            <a:r>
              <a:rPr lang="en-US" sz="900" dirty="0">
                <a:solidFill>
                  <a:srgbClr val="AFA3A6"/>
                </a:solidFill>
                <a:latin typeface="Calibri" pitchFamily="34" charset="0"/>
                <a:ea typeface="Calibri" pitchFamily="34" charset="-122"/>
                <a:cs typeface="Calibri" pitchFamily="34" charset="-120"/>
              </a:rPr>
              <a:t>Janiūnienė, Kepalienė, Macevičiūtė &amp; Wilson (2026), Journal of Information Science, DOI 10.1177/01655515251396892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761DDFE-071F-4200-B0AA-394476C2D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38DC98E-89E2-BDAA-0A65-0F353C13FD88}"/>
              </a:ext>
            </a:extLst>
          </p:cNvPr>
          <p:cNvSpPr txBox="1"/>
          <p:nvPr/>
        </p:nvSpPr>
        <p:spPr>
          <a:xfrm>
            <a:off x="628648" y="410861"/>
            <a:ext cx="3875389" cy="1260389"/>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2800" b="1" dirty="0">
                <a:latin typeface="+mj-lt"/>
                <a:ea typeface="+mj-ea"/>
                <a:cs typeface="+mj-cs"/>
              </a:rPr>
              <a:t>Where AI went wrong: a human critique of the presented output </a:t>
            </a:r>
            <a:endParaRPr lang="en-US" sz="2800" dirty="0">
              <a:latin typeface="+mj-lt"/>
              <a:ea typeface="+mj-ea"/>
              <a:cs typeface="+mj-cs"/>
            </a:endParaRPr>
          </a:p>
        </p:txBody>
      </p:sp>
      <p:sp>
        <p:nvSpPr>
          <p:cNvPr id="5" name="TextBox 4">
            <a:extLst>
              <a:ext uri="{FF2B5EF4-FFF2-40B4-BE49-F238E27FC236}">
                <a16:creationId xmlns:a16="http://schemas.microsoft.com/office/drawing/2014/main" id="{2FBEF158-6CB7-193D-5E1A-6319CC704ABE}"/>
              </a:ext>
            </a:extLst>
          </p:cNvPr>
          <p:cNvSpPr txBox="1"/>
          <p:nvPr/>
        </p:nvSpPr>
        <p:spPr>
          <a:xfrm>
            <a:off x="4639964" y="410861"/>
            <a:ext cx="3884220" cy="1405582"/>
          </a:xfrm>
          <a:prstGeom prst="rect">
            <a:avLst/>
          </a:prstGeom>
        </p:spPr>
        <p:txBody>
          <a:bodyPr vert="horz" lIns="91440" tIns="45720" rIns="91440" bIns="45720" rtlCol="0" anchor="ctr">
            <a:normAutofit lnSpcReduction="10000"/>
          </a:bodyPr>
          <a:lstStyle/>
          <a:p>
            <a:pPr>
              <a:lnSpc>
                <a:spcPct val="90000"/>
              </a:lnSpc>
              <a:spcAft>
                <a:spcPts val="600"/>
              </a:spcAft>
            </a:pPr>
            <a:r>
              <a:rPr lang="en-US" sz="1500" dirty="0"/>
              <a:t>1. The diagram on </a:t>
            </a:r>
            <a:r>
              <a:rPr lang="en-US" sz="1500" b="1" dirty="0"/>
              <a:t>slide 3 </a:t>
            </a:r>
            <a:r>
              <a:rPr lang="en-US" sz="1500" dirty="0"/>
              <a:t>(shown on the left) is a replication of figure 1 on page 5 (shown on the right). The recreation simplified and omitted much of what was originally represented. (i.e., feedback arrows are removed, which makes the process more difficult to internalize for readers)</a:t>
            </a:r>
          </a:p>
        </p:txBody>
      </p:sp>
      <p:pic>
        <p:nvPicPr>
          <p:cNvPr id="7" name="Picture 6">
            <a:extLst>
              <a:ext uri="{FF2B5EF4-FFF2-40B4-BE49-F238E27FC236}">
                <a16:creationId xmlns:a16="http://schemas.microsoft.com/office/drawing/2014/main" id="{037C84D4-1B4A-77E7-5176-AA9AE50AA808}"/>
              </a:ext>
            </a:extLst>
          </p:cNvPr>
          <p:cNvPicPr>
            <a:picLocks noChangeAspect="1"/>
          </p:cNvPicPr>
          <p:nvPr/>
        </p:nvPicPr>
        <p:blipFill>
          <a:blip r:embed="rId3"/>
          <a:stretch>
            <a:fillRect/>
          </a:stretch>
        </p:blipFill>
        <p:spPr>
          <a:xfrm>
            <a:off x="538525" y="1877738"/>
            <a:ext cx="3884219" cy="2854901"/>
          </a:xfrm>
          <a:prstGeom prst="rect">
            <a:avLst/>
          </a:prstGeom>
        </p:spPr>
      </p:pic>
      <p:pic>
        <p:nvPicPr>
          <p:cNvPr id="6" name="Picture 5">
            <a:extLst>
              <a:ext uri="{FF2B5EF4-FFF2-40B4-BE49-F238E27FC236}">
                <a16:creationId xmlns:a16="http://schemas.microsoft.com/office/drawing/2014/main" id="{BF159005-788D-3367-CB0F-EF7FAFF6E8FD}"/>
              </a:ext>
            </a:extLst>
          </p:cNvPr>
          <p:cNvPicPr>
            <a:picLocks noChangeAspect="1"/>
          </p:cNvPicPr>
          <p:nvPr/>
        </p:nvPicPr>
        <p:blipFill>
          <a:blip r:embed="rId4"/>
          <a:stretch>
            <a:fillRect/>
          </a:stretch>
        </p:blipFill>
        <p:spPr>
          <a:xfrm>
            <a:off x="4570856" y="2030462"/>
            <a:ext cx="4266867" cy="2549452"/>
          </a:xfrm>
          <a:prstGeom prst="rect">
            <a:avLst/>
          </a:prstGeom>
        </p:spPr>
      </p:pic>
    </p:spTree>
    <p:extLst>
      <p:ext uri="{BB962C8B-B14F-4D97-AF65-F5344CB8AC3E}">
        <p14:creationId xmlns:p14="http://schemas.microsoft.com/office/powerpoint/2010/main" val="30536939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353E59-EA14-B84D-269D-10188C8428AC}"/>
              </a:ext>
            </a:extLst>
          </p:cNvPr>
          <p:cNvSpPr txBox="1"/>
          <p:nvPr/>
        </p:nvSpPr>
        <p:spPr>
          <a:xfrm>
            <a:off x="230698" y="324372"/>
            <a:ext cx="4572000" cy="1255728"/>
          </a:xfrm>
          <a:prstGeom prst="rect">
            <a:avLst/>
          </a:prstGeom>
          <a:noFill/>
        </p:spPr>
        <p:txBody>
          <a:bodyPr wrap="square">
            <a:spAutoFit/>
          </a:bodyPr>
          <a:lstStyle/>
          <a:p>
            <a:pPr marL="0" indent="0">
              <a:lnSpc>
                <a:spcPct val="90000"/>
              </a:lnSpc>
              <a:spcBef>
                <a:spcPct val="0"/>
              </a:spcBef>
              <a:spcAft>
                <a:spcPts val="600"/>
              </a:spcAft>
            </a:pPr>
            <a:r>
              <a:rPr lang="en-US" sz="2800" b="1" dirty="0">
                <a:latin typeface="+mj-lt"/>
                <a:ea typeface="+mj-ea"/>
                <a:cs typeface="+mj-cs"/>
              </a:rPr>
              <a:t>Where AI went wrong: a human critique of the presented output </a:t>
            </a:r>
            <a:endParaRPr lang="en-US" sz="2800" dirty="0">
              <a:latin typeface="+mj-lt"/>
              <a:ea typeface="+mj-ea"/>
              <a:cs typeface="+mj-cs"/>
            </a:endParaRPr>
          </a:p>
        </p:txBody>
      </p:sp>
      <p:sp>
        <p:nvSpPr>
          <p:cNvPr id="5" name="TextBox 4">
            <a:extLst>
              <a:ext uri="{FF2B5EF4-FFF2-40B4-BE49-F238E27FC236}">
                <a16:creationId xmlns:a16="http://schemas.microsoft.com/office/drawing/2014/main" id="{82577D71-CEE5-01F1-7F71-D573BA7D99A6}"/>
              </a:ext>
            </a:extLst>
          </p:cNvPr>
          <p:cNvSpPr txBox="1"/>
          <p:nvPr/>
        </p:nvSpPr>
        <p:spPr>
          <a:xfrm>
            <a:off x="1889151" y="1626141"/>
            <a:ext cx="6943763" cy="1588127"/>
          </a:xfrm>
          <a:prstGeom prst="rect">
            <a:avLst/>
          </a:prstGeom>
          <a:noFill/>
        </p:spPr>
        <p:txBody>
          <a:bodyPr wrap="square">
            <a:spAutoFit/>
          </a:bodyPr>
          <a:lstStyle/>
          <a:p>
            <a:pPr>
              <a:lnSpc>
                <a:spcPct val="90000"/>
              </a:lnSpc>
              <a:spcAft>
                <a:spcPts val="600"/>
              </a:spcAft>
            </a:pPr>
            <a:r>
              <a:rPr lang="en-US" dirty="0">
                <a:solidFill>
                  <a:srgbClr val="2B2124"/>
                </a:solidFill>
                <a:latin typeface="Calibri" pitchFamily="34" charset="0"/>
                <a:ea typeface="Calibri" pitchFamily="34" charset="-122"/>
                <a:cs typeface="Calibri" pitchFamily="34" charset="-120"/>
              </a:rPr>
              <a:t>2. An AI summary reads as hyper-confident “some respondents” becomes “respondents,” and AI converts what is labeled by the authors as a tentative finding into a hardened claim. (</a:t>
            </a:r>
            <a:r>
              <a:rPr lang="en-US" b="1" dirty="0">
                <a:solidFill>
                  <a:srgbClr val="2B2124"/>
                </a:solidFill>
                <a:latin typeface="Calibri" pitchFamily="34" charset="0"/>
                <a:ea typeface="Calibri" pitchFamily="34" charset="-122"/>
                <a:cs typeface="Calibri" pitchFamily="34" charset="-120"/>
              </a:rPr>
              <a:t>slide 7</a:t>
            </a:r>
            <a:r>
              <a:rPr lang="en-US" dirty="0">
                <a:solidFill>
                  <a:srgbClr val="2B2124"/>
                </a:solidFill>
                <a:latin typeface="Calibri" pitchFamily="34" charset="0"/>
                <a:ea typeface="Calibri" pitchFamily="34" charset="-122"/>
                <a:cs typeface="Calibri" pitchFamily="34" charset="-120"/>
              </a:rPr>
              <a:t>). Additionally, the header on </a:t>
            </a:r>
            <a:r>
              <a:rPr lang="en-US" b="1" dirty="0">
                <a:solidFill>
                  <a:srgbClr val="2B2124"/>
                </a:solidFill>
                <a:latin typeface="Calibri" pitchFamily="34" charset="0"/>
                <a:ea typeface="Calibri" pitchFamily="34" charset="-122"/>
                <a:cs typeface="Calibri" pitchFamily="34" charset="-120"/>
              </a:rPr>
              <a:t>slide 7 </a:t>
            </a:r>
            <a:r>
              <a:rPr lang="en-US" dirty="0">
                <a:solidFill>
                  <a:srgbClr val="2B2124"/>
                </a:solidFill>
                <a:latin typeface="Calibri" pitchFamily="34" charset="0"/>
                <a:ea typeface="Calibri" pitchFamily="34" charset="-122"/>
                <a:cs typeface="Calibri" pitchFamily="34" charset="-120"/>
              </a:rPr>
              <a:t>presents findings as absolute “Rules exist. Awareness of them doesn’t doesn’t.” T</a:t>
            </a:r>
            <a:r>
              <a:rPr lang="en-US" dirty="0"/>
              <a:t>he paper says "a significant scarcity of empirical research”</a:t>
            </a:r>
            <a:endParaRPr lang="en-US" sz="1800" dirty="0"/>
          </a:p>
        </p:txBody>
      </p:sp>
      <p:pic>
        <p:nvPicPr>
          <p:cNvPr id="6" name="Picture 5">
            <a:extLst>
              <a:ext uri="{FF2B5EF4-FFF2-40B4-BE49-F238E27FC236}">
                <a16:creationId xmlns:a16="http://schemas.microsoft.com/office/drawing/2014/main" id="{17B86DF6-57DF-C4B4-899D-0046446CBA50}"/>
              </a:ext>
            </a:extLst>
          </p:cNvPr>
          <p:cNvPicPr>
            <a:picLocks noChangeAspect="1"/>
          </p:cNvPicPr>
          <p:nvPr/>
        </p:nvPicPr>
        <p:blipFill>
          <a:blip r:embed="rId3"/>
          <a:stretch>
            <a:fillRect/>
          </a:stretch>
        </p:blipFill>
        <p:spPr>
          <a:xfrm>
            <a:off x="979998" y="3563400"/>
            <a:ext cx="7645400" cy="1524000"/>
          </a:xfrm>
          <a:prstGeom prst="rect">
            <a:avLst/>
          </a:prstGeom>
        </p:spPr>
      </p:pic>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84C57EA7-7CC3-A7BB-6C86-15D0D5A4ACC0}"/>
                  </a:ext>
                </a:extLst>
              </p14:cNvPr>
              <p14:cNvContentPartPr/>
              <p14:nvPr/>
            </p14:nvContentPartPr>
            <p14:xfrm>
              <a:off x="1198378" y="4050252"/>
              <a:ext cx="1318320" cy="24840"/>
            </p14:xfrm>
          </p:contentPart>
        </mc:Choice>
        <mc:Fallback>
          <p:pic>
            <p:nvPicPr>
              <p:cNvPr id="7" name="Ink 6">
                <a:extLst>
                  <a:ext uri="{FF2B5EF4-FFF2-40B4-BE49-F238E27FC236}">
                    <a16:creationId xmlns:a16="http://schemas.microsoft.com/office/drawing/2014/main" id="{84C57EA7-7CC3-A7BB-6C86-15D0D5A4ACC0}"/>
                  </a:ext>
                </a:extLst>
              </p:cNvPr>
              <p:cNvPicPr/>
              <p:nvPr/>
            </p:nvPicPr>
            <p:blipFill>
              <a:blip r:embed="rId5"/>
              <a:stretch>
                <a:fillRect/>
              </a:stretch>
            </p:blipFill>
            <p:spPr>
              <a:xfrm>
                <a:off x="1162738" y="3978252"/>
                <a:ext cx="138996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 name="Ink 10">
                <a:extLst>
                  <a:ext uri="{FF2B5EF4-FFF2-40B4-BE49-F238E27FC236}">
                    <a16:creationId xmlns:a16="http://schemas.microsoft.com/office/drawing/2014/main" id="{B20B8345-40AA-9114-9B1F-E9AA69C10E5F}"/>
                  </a:ext>
                </a:extLst>
              </p14:cNvPr>
              <p14:cNvContentPartPr/>
              <p14:nvPr/>
            </p14:nvContentPartPr>
            <p14:xfrm>
              <a:off x="385498" y="2621715"/>
              <a:ext cx="1472040" cy="936720"/>
            </p14:xfrm>
          </p:contentPart>
        </mc:Choice>
        <mc:Fallback>
          <p:pic>
            <p:nvPicPr>
              <p:cNvPr id="11" name="Ink 10">
                <a:extLst>
                  <a:ext uri="{FF2B5EF4-FFF2-40B4-BE49-F238E27FC236}">
                    <a16:creationId xmlns:a16="http://schemas.microsoft.com/office/drawing/2014/main" id="{B20B8345-40AA-9114-9B1F-E9AA69C10E5F}"/>
                  </a:ext>
                </a:extLst>
              </p:cNvPr>
              <p:cNvPicPr/>
              <p:nvPr/>
            </p:nvPicPr>
            <p:blipFill>
              <a:blip r:embed="rId7"/>
              <a:stretch>
                <a:fillRect/>
              </a:stretch>
            </p:blipFill>
            <p:spPr>
              <a:xfrm>
                <a:off x="367498" y="2603715"/>
                <a:ext cx="1507680" cy="972360"/>
              </a:xfrm>
              <a:prstGeom prst="rect">
                <a:avLst/>
              </a:prstGeom>
            </p:spPr>
          </p:pic>
        </mc:Fallback>
      </mc:AlternateContent>
      <p:pic>
        <p:nvPicPr>
          <p:cNvPr id="12" name="Picture 11">
            <a:extLst>
              <a:ext uri="{FF2B5EF4-FFF2-40B4-BE49-F238E27FC236}">
                <a16:creationId xmlns:a16="http://schemas.microsoft.com/office/drawing/2014/main" id="{8495DB9D-A7EE-D3FA-14E1-9D923F915AAA}"/>
              </a:ext>
            </a:extLst>
          </p:cNvPr>
          <p:cNvPicPr>
            <a:picLocks noChangeAspect="1"/>
          </p:cNvPicPr>
          <p:nvPr/>
        </p:nvPicPr>
        <p:blipFill>
          <a:blip r:embed="rId8"/>
          <a:stretch>
            <a:fillRect/>
          </a:stretch>
        </p:blipFill>
        <p:spPr>
          <a:xfrm>
            <a:off x="1174748" y="3216751"/>
            <a:ext cx="7772400" cy="654694"/>
          </a:xfrm>
          <a:prstGeom prst="rect">
            <a:avLst/>
          </a:prstGeom>
        </p:spPr>
      </p:pic>
    </p:spTree>
    <p:extLst>
      <p:ext uri="{BB962C8B-B14F-4D97-AF65-F5344CB8AC3E}">
        <p14:creationId xmlns:p14="http://schemas.microsoft.com/office/powerpoint/2010/main" val="1749605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79F20-2FC6-D882-D110-65226A1B25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25D2AA-10BD-1C79-16A2-58C27D16CB13}"/>
              </a:ext>
            </a:extLst>
          </p:cNvPr>
          <p:cNvSpPr txBox="1"/>
          <p:nvPr/>
        </p:nvSpPr>
        <p:spPr>
          <a:xfrm>
            <a:off x="230698" y="324372"/>
            <a:ext cx="5037588" cy="867930"/>
          </a:xfrm>
          <a:prstGeom prst="rect">
            <a:avLst/>
          </a:prstGeom>
          <a:noFill/>
        </p:spPr>
        <p:txBody>
          <a:bodyPr wrap="square">
            <a:spAutoFit/>
          </a:bodyPr>
          <a:lstStyle/>
          <a:p>
            <a:pPr marL="0" indent="0">
              <a:lnSpc>
                <a:spcPct val="90000"/>
              </a:lnSpc>
              <a:spcBef>
                <a:spcPct val="0"/>
              </a:spcBef>
              <a:spcAft>
                <a:spcPts val="600"/>
              </a:spcAft>
            </a:pPr>
            <a:r>
              <a:rPr lang="en-US" sz="2800" b="1" dirty="0">
                <a:latin typeface="+mj-lt"/>
                <a:ea typeface="+mj-ea"/>
                <a:cs typeface="+mj-cs"/>
              </a:rPr>
              <a:t>Where AI went wrong: a human critique of the presented output </a:t>
            </a:r>
            <a:endParaRPr lang="en-US" sz="2800" dirty="0">
              <a:latin typeface="+mj-lt"/>
              <a:ea typeface="+mj-ea"/>
              <a:cs typeface="+mj-cs"/>
            </a:endParaRPr>
          </a:p>
        </p:txBody>
      </p:sp>
      <p:sp>
        <p:nvSpPr>
          <p:cNvPr id="5" name="TextBox 4">
            <a:extLst>
              <a:ext uri="{FF2B5EF4-FFF2-40B4-BE49-F238E27FC236}">
                <a16:creationId xmlns:a16="http://schemas.microsoft.com/office/drawing/2014/main" id="{01D60F2A-16E8-77DA-AB0A-2BB87C381BCB}"/>
              </a:ext>
            </a:extLst>
          </p:cNvPr>
          <p:cNvSpPr txBox="1"/>
          <p:nvPr/>
        </p:nvSpPr>
        <p:spPr>
          <a:xfrm>
            <a:off x="2009162" y="1433720"/>
            <a:ext cx="5356371" cy="1588127"/>
          </a:xfrm>
          <a:prstGeom prst="rect">
            <a:avLst/>
          </a:prstGeom>
          <a:noFill/>
        </p:spPr>
        <p:txBody>
          <a:bodyPr wrap="square">
            <a:spAutoFit/>
          </a:bodyPr>
          <a:lstStyle/>
          <a:p>
            <a:pPr>
              <a:lnSpc>
                <a:spcPct val="90000"/>
              </a:lnSpc>
              <a:spcAft>
                <a:spcPts val="600"/>
              </a:spcAft>
            </a:pPr>
            <a:r>
              <a:rPr lang="en-US" dirty="0">
                <a:solidFill>
                  <a:srgbClr val="2B2124"/>
                </a:solidFill>
                <a:latin typeface="Calibri" pitchFamily="34" charset="0"/>
                <a:ea typeface="Calibri" pitchFamily="34" charset="-122"/>
                <a:cs typeface="Calibri" pitchFamily="34" charset="-120"/>
              </a:rPr>
              <a:t>3. It attributed its own additions to me! For example, in </a:t>
            </a:r>
            <a:r>
              <a:rPr lang="en-US" b="1" dirty="0">
                <a:solidFill>
                  <a:srgbClr val="2B2124"/>
                </a:solidFill>
                <a:latin typeface="Calibri" pitchFamily="34" charset="0"/>
                <a:ea typeface="Calibri" pitchFamily="34" charset="-122"/>
                <a:cs typeface="Calibri" pitchFamily="34" charset="-120"/>
              </a:rPr>
              <a:t>slide 9</a:t>
            </a:r>
            <a:r>
              <a:rPr lang="en-US" dirty="0">
                <a:solidFill>
                  <a:srgbClr val="2B2124"/>
                </a:solidFill>
                <a:latin typeface="Calibri" pitchFamily="34" charset="0"/>
                <a:ea typeface="Calibri" pitchFamily="34" charset="-122"/>
                <a:cs typeface="Calibri" pitchFamily="34" charset="-120"/>
              </a:rPr>
              <a:t>, “what I’d add” and “my additions.” The output did not make clear that it was its own production, not MINE! This seems like a potential plagiarism issue, as it is presenting the information as an original human contribution, rather than one generated by AI</a:t>
            </a:r>
            <a:endParaRPr lang="en-US" sz="1800" dirty="0"/>
          </a:p>
        </p:txBody>
      </p:sp>
      <mc:AlternateContent xmlns:mc="http://schemas.openxmlformats.org/markup-compatibility/2006">
        <mc:Choice xmlns:p14="http://schemas.microsoft.com/office/powerpoint/2010/main" Requires="p14">
          <p:contentPart p14:bwMode="auto" r:id="rId3">
            <p14:nvContentPartPr>
              <p14:cNvPr id="11" name="Ink 10">
                <a:extLst>
                  <a:ext uri="{FF2B5EF4-FFF2-40B4-BE49-F238E27FC236}">
                    <a16:creationId xmlns:a16="http://schemas.microsoft.com/office/drawing/2014/main" id="{5F968CE4-6CB0-5A57-DB7E-8CCFE42A66A2}"/>
                  </a:ext>
                </a:extLst>
              </p14:cNvPr>
              <p14:cNvContentPartPr/>
              <p14:nvPr/>
            </p14:nvContentPartPr>
            <p14:xfrm>
              <a:off x="658248" y="2631002"/>
              <a:ext cx="1472040" cy="936720"/>
            </p14:xfrm>
          </p:contentPart>
        </mc:Choice>
        <mc:Fallback>
          <p:pic>
            <p:nvPicPr>
              <p:cNvPr id="11" name="Ink 10">
                <a:extLst>
                  <a:ext uri="{FF2B5EF4-FFF2-40B4-BE49-F238E27FC236}">
                    <a16:creationId xmlns:a16="http://schemas.microsoft.com/office/drawing/2014/main" id="{5F968CE4-6CB0-5A57-DB7E-8CCFE42A66A2}"/>
                  </a:ext>
                </a:extLst>
              </p:cNvPr>
              <p:cNvPicPr/>
              <p:nvPr/>
            </p:nvPicPr>
            <p:blipFill>
              <a:blip r:embed="rId4"/>
              <a:stretch>
                <a:fillRect/>
              </a:stretch>
            </p:blipFill>
            <p:spPr>
              <a:xfrm>
                <a:off x="640248" y="2613009"/>
                <a:ext cx="1507680" cy="972346"/>
              </a:xfrm>
              <a:prstGeom prst="rect">
                <a:avLst/>
              </a:prstGeom>
            </p:spPr>
          </p:pic>
        </mc:Fallback>
      </mc:AlternateContent>
      <p:pic>
        <p:nvPicPr>
          <p:cNvPr id="4" name="Picture 3">
            <a:extLst>
              <a:ext uri="{FF2B5EF4-FFF2-40B4-BE49-F238E27FC236}">
                <a16:creationId xmlns:a16="http://schemas.microsoft.com/office/drawing/2014/main" id="{C041F300-5875-FA3F-4AA4-4242B6E38C6B}"/>
              </a:ext>
            </a:extLst>
          </p:cNvPr>
          <p:cNvPicPr>
            <a:picLocks noChangeAspect="1"/>
          </p:cNvPicPr>
          <p:nvPr/>
        </p:nvPicPr>
        <p:blipFill>
          <a:blip r:embed="rId5"/>
          <a:stretch>
            <a:fillRect/>
          </a:stretch>
        </p:blipFill>
        <p:spPr>
          <a:xfrm>
            <a:off x="524024" y="3834173"/>
            <a:ext cx="4526148" cy="594044"/>
          </a:xfrm>
          <a:prstGeom prst="rect">
            <a:avLst/>
          </a:prstGeom>
        </p:spPr>
      </p:pic>
      <p:pic>
        <p:nvPicPr>
          <p:cNvPr id="8" name="Picture 7">
            <a:extLst>
              <a:ext uri="{FF2B5EF4-FFF2-40B4-BE49-F238E27FC236}">
                <a16:creationId xmlns:a16="http://schemas.microsoft.com/office/drawing/2014/main" id="{4607CC2C-C19A-E5BF-152F-AEDC68954517}"/>
              </a:ext>
            </a:extLst>
          </p:cNvPr>
          <p:cNvPicPr>
            <a:picLocks noChangeAspect="1"/>
          </p:cNvPicPr>
          <p:nvPr/>
        </p:nvPicPr>
        <p:blipFill>
          <a:blip r:embed="rId6"/>
          <a:stretch>
            <a:fillRect/>
          </a:stretch>
        </p:blipFill>
        <p:spPr>
          <a:xfrm>
            <a:off x="4802698" y="3239461"/>
            <a:ext cx="4206921" cy="1255728"/>
          </a:xfrm>
          <a:prstGeom prst="rect">
            <a:avLst/>
          </a:prstGeom>
        </p:spPr>
      </p:pic>
    </p:spTree>
    <p:extLst>
      <p:ext uri="{BB962C8B-B14F-4D97-AF65-F5344CB8AC3E}">
        <p14:creationId xmlns:p14="http://schemas.microsoft.com/office/powerpoint/2010/main" val="3673439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6686A-FCBF-F1A4-7876-8F14675D8B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61AD62F-7EC3-F76A-A000-22A497445C94}"/>
              </a:ext>
            </a:extLst>
          </p:cNvPr>
          <p:cNvSpPr txBox="1"/>
          <p:nvPr/>
        </p:nvSpPr>
        <p:spPr>
          <a:xfrm>
            <a:off x="230697" y="324372"/>
            <a:ext cx="5926821" cy="1643527"/>
          </a:xfrm>
          <a:prstGeom prst="rect">
            <a:avLst/>
          </a:prstGeom>
          <a:noFill/>
        </p:spPr>
        <p:txBody>
          <a:bodyPr wrap="square">
            <a:spAutoFit/>
          </a:bodyPr>
          <a:lstStyle/>
          <a:p>
            <a:pPr marL="0" indent="0">
              <a:lnSpc>
                <a:spcPct val="90000"/>
              </a:lnSpc>
              <a:spcBef>
                <a:spcPct val="0"/>
              </a:spcBef>
              <a:spcAft>
                <a:spcPts val="600"/>
              </a:spcAft>
            </a:pPr>
            <a:r>
              <a:rPr lang="en-US" sz="2800" b="1" dirty="0">
                <a:latin typeface="+mj-lt"/>
                <a:ea typeface="+mj-ea"/>
                <a:cs typeface="+mj-cs"/>
              </a:rPr>
              <a:t>Where AI went wrong: a criticism of the presented output — AI Checking itself — I asked Claude if I missed any of its mistakes </a:t>
            </a:r>
            <a:endParaRPr lang="en-US" sz="2800" dirty="0">
              <a:latin typeface="+mj-lt"/>
              <a:ea typeface="+mj-ea"/>
              <a:cs typeface="+mj-cs"/>
            </a:endParaRPr>
          </a:p>
        </p:txBody>
      </p:sp>
      <p:sp>
        <p:nvSpPr>
          <p:cNvPr id="5" name="TextBox 4">
            <a:extLst>
              <a:ext uri="{FF2B5EF4-FFF2-40B4-BE49-F238E27FC236}">
                <a16:creationId xmlns:a16="http://schemas.microsoft.com/office/drawing/2014/main" id="{4524DD74-6675-CC2A-4E67-205A88C64191}"/>
              </a:ext>
            </a:extLst>
          </p:cNvPr>
          <p:cNvSpPr txBox="1"/>
          <p:nvPr/>
        </p:nvSpPr>
        <p:spPr>
          <a:xfrm>
            <a:off x="1893814" y="1967899"/>
            <a:ext cx="5356371" cy="2662267"/>
          </a:xfrm>
          <a:prstGeom prst="rect">
            <a:avLst/>
          </a:prstGeom>
          <a:noFill/>
        </p:spPr>
        <p:txBody>
          <a:bodyPr wrap="square">
            <a:spAutoFit/>
          </a:bodyPr>
          <a:lstStyle/>
          <a:p>
            <a:pPr>
              <a:lnSpc>
                <a:spcPct val="90000"/>
              </a:lnSpc>
              <a:spcAft>
                <a:spcPts val="600"/>
              </a:spcAft>
            </a:pPr>
            <a:r>
              <a:rPr lang="en-US" dirty="0">
                <a:solidFill>
                  <a:srgbClr val="2B2124"/>
                </a:solidFill>
                <a:latin typeface="Calibri" pitchFamily="34" charset="0"/>
                <a:ea typeface="Calibri" pitchFamily="34" charset="-122"/>
                <a:cs typeface="Calibri" pitchFamily="34" charset="-120"/>
              </a:rPr>
              <a:t>4. </a:t>
            </a:r>
            <a:r>
              <a:rPr lang="en-US" b="1" dirty="0"/>
              <a:t>Slide 5 says "sociology" about a sample that isn't sociologists.</a:t>
            </a:r>
            <a:r>
              <a:rPr lang="en-US" dirty="0"/>
              <a:t> </a:t>
            </a:r>
            <a:r>
              <a:rPr lang="en-US" i="1" dirty="0"/>
              <a:t>"Nobody adopted AI to do better sociology."</a:t>
            </a:r>
            <a:r>
              <a:rPr lang="en-US" dirty="0"/>
              <a:t> </a:t>
            </a:r>
          </a:p>
          <a:p>
            <a:pPr>
              <a:lnSpc>
                <a:spcPct val="90000"/>
              </a:lnSpc>
              <a:spcAft>
                <a:spcPts val="600"/>
              </a:spcAft>
            </a:pPr>
            <a:r>
              <a:rPr lang="en-US" dirty="0"/>
              <a:t>The 13 respondents are computational linguists, historians, legal scholars, information security and digital heritage researchers. Two of thirteen are described as sociologists. The AI reached for the nearest disciplinary word — and it happens to be y</a:t>
            </a:r>
            <a:r>
              <a:rPr lang="en-US" i="1" dirty="0"/>
              <a:t>our</a:t>
            </a:r>
            <a:r>
              <a:rPr lang="en-US" dirty="0"/>
              <a:t> discipline, which is worth noticing: the error slid past you partly because it sounded natural to you.</a:t>
            </a:r>
            <a:endParaRPr lang="en-US" sz="1800" dirty="0"/>
          </a:p>
        </p:txBody>
      </p:sp>
    </p:spTree>
    <p:extLst>
      <p:ext uri="{BB962C8B-B14F-4D97-AF65-F5344CB8AC3E}">
        <p14:creationId xmlns:p14="http://schemas.microsoft.com/office/powerpoint/2010/main" val="2732164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1E671-52D7-95CB-D720-DB0231F9AFA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DA8DFE-7272-0C88-D1F2-0D6E644DD17F}"/>
              </a:ext>
            </a:extLst>
          </p:cNvPr>
          <p:cNvSpPr txBox="1"/>
          <p:nvPr/>
        </p:nvSpPr>
        <p:spPr>
          <a:xfrm>
            <a:off x="272642" y="215315"/>
            <a:ext cx="5926821" cy="1643527"/>
          </a:xfrm>
          <a:prstGeom prst="rect">
            <a:avLst/>
          </a:prstGeom>
          <a:noFill/>
        </p:spPr>
        <p:txBody>
          <a:bodyPr wrap="square">
            <a:spAutoFit/>
          </a:bodyPr>
          <a:lstStyle/>
          <a:p>
            <a:pPr marL="0" indent="0">
              <a:lnSpc>
                <a:spcPct val="90000"/>
              </a:lnSpc>
              <a:spcBef>
                <a:spcPct val="0"/>
              </a:spcBef>
              <a:spcAft>
                <a:spcPts val="600"/>
              </a:spcAft>
            </a:pPr>
            <a:r>
              <a:rPr lang="en-US" sz="2800" b="1" dirty="0">
                <a:latin typeface="+mj-lt"/>
                <a:ea typeface="+mj-ea"/>
                <a:cs typeface="+mj-cs"/>
              </a:rPr>
              <a:t>Where AI went wrong: a criticism of the presented output — AI Checking itself — I asked Claude if I missed any of its mistakes </a:t>
            </a:r>
            <a:endParaRPr lang="en-US" sz="2800" dirty="0">
              <a:latin typeface="+mj-lt"/>
              <a:ea typeface="+mj-ea"/>
              <a:cs typeface="+mj-cs"/>
            </a:endParaRPr>
          </a:p>
        </p:txBody>
      </p:sp>
      <p:sp>
        <p:nvSpPr>
          <p:cNvPr id="5" name="TextBox 4">
            <a:extLst>
              <a:ext uri="{FF2B5EF4-FFF2-40B4-BE49-F238E27FC236}">
                <a16:creationId xmlns:a16="http://schemas.microsoft.com/office/drawing/2014/main" id="{E5CFBD0A-7FF4-9475-8E45-8E9867C42D79}"/>
              </a:ext>
            </a:extLst>
          </p:cNvPr>
          <p:cNvSpPr txBox="1"/>
          <p:nvPr/>
        </p:nvSpPr>
        <p:spPr>
          <a:xfrm>
            <a:off x="1711354" y="1967899"/>
            <a:ext cx="5538831" cy="2834622"/>
          </a:xfrm>
          <a:prstGeom prst="rect">
            <a:avLst/>
          </a:prstGeom>
          <a:noFill/>
        </p:spPr>
        <p:txBody>
          <a:bodyPr wrap="square">
            <a:spAutoFit/>
          </a:bodyPr>
          <a:lstStyle/>
          <a:p>
            <a:pPr>
              <a:lnSpc>
                <a:spcPct val="90000"/>
              </a:lnSpc>
              <a:spcAft>
                <a:spcPts val="600"/>
              </a:spcAft>
            </a:pPr>
            <a:r>
              <a:rPr lang="en-US" dirty="0">
                <a:solidFill>
                  <a:srgbClr val="2B2124"/>
                </a:solidFill>
                <a:latin typeface="Calibri" pitchFamily="34" charset="0"/>
                <a:ea typeface="Calibri" pitchFamily="34" charset="-122"/>
                <a:cs typeface="Calibri" pitchFamily="34" charset="-120"/>
              </a:rPr>
              <a:t>5. </a:t>
            </a:r>
            <a:r>
              <a:rPr lang="en-US" b="1" dirty="0"/>
              <a:t>Slides 8 and 10 contradict each other.</a:t>
            </a:r>
            <a:r>
              <a:rPr lang="en-US" dirty="0"/>
              <a:t> Slide 8 presents Contradiction 2: </a:t>
            </a:r>
            <a:r>
              <a:rPr lang="en-US" i="1" dirty="0"/>
              <a:t>"unequal access and expertise keep pulling that apart."</a:t>
            </a:r>
            <a:r>
              <a:rPr lang="en-US" dirty="0"/>
              <a:t> Slide 10 then declares: </a:t>
            </a:r>
            <a:r>
              <a:rPr lang="en-US" i="1" dirty="0"/>
              <a:t>"The limit is judgement, not access."</a:t>
            </a:r>
            <a:r>
              <a:rPr lang="en-US" dirty="0"/>
              <a:t> The deck asserts access is a constraint, then two slides later asserts it isn't. Neither statement is flagged as an inference. This is the most useful error in the set, because it shows the failure isn't per-sentence — each slide was drafted to be locally punchy, and nothing checked whether the deck was consistent with itself. A human writing ten slides holds the argument in their head. The model held ten slides.</a:t>
            </a:r>
            <a:endParaRPr lang="en-US" sz="1800" dirty="0"/>
          </a:p>
        </p:txBody>
      </p:sp>
    </p:spTree>
    <p:extLst>
      <p:ext uri="{BB962C8B-B14F-4D97-AF65-F5344CB8AC3E}">
        <p14:creationId xmlns:p14="http://schemas.microsoft.com/office/powerpoint/2010/main" val="852907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2936</Words>
  <Application>Microsoft Macintosh PowerPoint</Application>
  <PresentationFormat>On-screen Show (16:9)</PresentationFormat>
  <Paragraphs>186</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Social Science Academics Use AI</dc:title>
  <dc:subject>PptxGenJS Presentation</dc:subject>
  <dc:creator>Gabrielle Dobbs</dc:creator>
  <cp:lastModifiedBy>Dobbs, Gabby</cp:lastModifiedBy>
  <cp:revision>19</cp:revision>
  <dcterms:created xsi:type="dcterms:W3CDTF">2026-09-07T22:48:00Z</dcterms:created>
  <dcterms:modified xsi:type="dcterms:W3CDTF">2026-09-08T01:32:30Z</dcterms:modified>
</cp:coreProperties>
</file>